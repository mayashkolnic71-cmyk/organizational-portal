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2" r:id="rId3"/>
    <p:sldId id="264" r:id="rId4"/>
    <p:sldId id="265" r:id="rId5"/>
    <p:sldId id="554" r:id="rId6"/>
    <p:sldId id="600" r:id="rId7"/>
    <p:sldId id="272" r:id="rId8"/>
    <p:sldId id="2121" r:id="rId9"/>
    <p:sldId id="2130" r:id="rId10"/>
    <p:sldId id="2126" r:id="rId11"/>
    <p:sldId id="27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9" autoAdjust="0"/>
    <p:restoredTop sz="94660"/>
  </p:normalViewPr>
  <p:slideViewPr>
    <p:cSldViewPr snapToGrid="0">
      <p:cViewPr varScale="1">
        <p:scale>
          <a:sx n="46" d="100"/>
          <a:sy n="46" d="100"/>
        </p:scale>
        <p:origin x="38" y="81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80C1DA-FBB5-48C9-B0B4-5D7B5BC0D7F5}" type="doc">
      <dgm:prSet loTypeId="urn:microsoft.com/office/officeart/2005/8/layout/vList3" loCatId="list" qsTypeId="urn:microsoft.com/office/officeart/2005/8/quickstyle/simple4" qsCatId="simple" csTypeId="urn:microsoft.com/office/officeart/2005/8/colors/accent1_2" csCatId="accent1" phldr="1"/>
      <dgm:spPr/>
    </dgm:pt>
    <dgm:pt modelId="{A3280323-5A9D-4155-9E0E-D8F1DD9BB94B}">
      <dgm:prSet phldrT="[Text]"/>
      <dgm:spPr>
        <a:solidFill>
          <a:srgbClr val="93E3FF"/>
        </a:solidFill>
      </dgm:spPr>
      <dgm:t>
        <a:bodyPr/>
        <a:lstStyle/>
        <a:p>
          <a:pPr algn="r" rtl="1"/>
          <a:r>
            <a:rPr lang="he-IL" dirty="0">
              <a:solidFill>
                <a:schemeClr val="tx1"/>
              </a:solidFill>
            </a:rPr>
            <a:t>תת שימוש - </a:t>
          </a:r>
          <a:r>
            <a:rPr lang="en-US" dirty="0">
              <a:solidFill>
                <a:schemeClr val="tx1"/>
              </a:solidFill>
            </a:rPr>
            <a:t>underuse</a:t>
          </a:r>
        </a:p>
      </dgm:t>
    </dgm:pt>
    <dgm:pt modelId="{6B5530CD-E030-4B38-B365-4DD9F71D290A}" type="parTrans" cxnId="{7A7F7C77-3844-419F-A0AC-9000C504E032}">
      <dgm:prSet/>
      <dgm:spPr/>
      <dgm:t>
        <a:bodyPr/>
        <a:lstStyle/>
        <a:p>
          <a:pPr algn="r" rtl="1"/>
          <a:endParaRPr lang="en-US"/>
        </a:p>
      </dgm:t>
    </dgm:pt>
    <dgm:pt modelId="{DE582C6B-F318-4E0E-ABDE-6BD3A05F9AC3}" type="sibTrans" cxnId="{7A7F7C77-3844-419F-A0AC-9000C504E032}">
      <dgm:prSet/>
      <dgm:spPr/>
      <dgm:t>
        <a:bodyPr/>
        <a:lstStyle/>
        <a:p>
          <a:pPr algn="r" rtl="1"/>
          <a:endParaRPr lang="en-US"/>
        </a:p>
      </dgm:t>
    </dgm:pt>
    <dgm:pt modelId="{B90DDF0C-F886-4DCB-84FD-9071CE4C3DC3}">
      <dgm:prSet phldrT="[Text]"/>
      <dgm:spPr>
        <a:solidFill>
          <a:srgbClr val="93E3FF"/>
        </a:solidFill>
      </dgm:spPr>
      <dgm:t>
        <a:bodyPr/>
        <a:lstStyle/>
        <a:p>
          <a:pPr algn="r" rtl="1"/>
          <a:r>
            <a:rPr lang="he-IL" dirty="0">
              <a:solidFill>
                <a:schemeClr val="tx1"/>
              </a:solidFill>
            </a:rPr>
            <a:t>שימוש יתר - </a:t>
          </a:r>
          <a:r>
            <a:rPr lang="en-US" dirty="0">
              <a:solidFill>
                <a:schemeClr val="tx1"/>
              </a:solidFill>
            </a:rPr>
            <a:t>overuse</a:t>
          </a:r>
        </a:p>
      </dgm:t>
    </dgm:pt>
    <dgm:pt modelId="{8D197903-FB98-409D-9D08-176F99B5453E}" type="parTrans" cxnId="{92A33657-FB71-4B11-B2F5-B92858A3C998}">
      <dgm:prSet/>
      <dgm:spPr/>
      <dgm:t>
        <a:bodyPr/>
        <a:lstStyle/>
        <a:p>
          <a:pPr algn="r" rtl="1"/>
          <a:endParaRPr lang="en-US"/>
        </a:p>
      </dgm:t>
    </dgm:pt>
    <dgm:pt modelId="{A7E223ED-B8FA-4658-94DD-EBEACEA12D17}" type="sibTrans" cxnId="{92A33657-FB71-4B11-B2F5-B92858A3C998}">
      <dgm:prSet/>
      <dgm:spPr/>
      <dgm:t>
        <a:bodyPr/>
        <a:lstStyle/>
        <a:p>
          <a:pPr algn="r" rtl="1"/>
          <a:endParaRPr lang="en-US"/>
        </a:p>
      </dgm:t>
    </dgm:pt>
    <dgm:pt modelId="{2F7940C1-051A-4EEE-B3D6-ED7DADEA9C68}">
      <dgm:prSet phldrT="[Text]"/>
      <dgm:spPr>
        <a:solidFill>
          <a:srgbClr val="93E3FF"/>
        </a:solidFill>
      </dgm:spPr>
      <dgm:t>
        <a:bodyPr/>
        <a:lstStyle/>
        <a:p>
          <a:pPr algn="r" rtl="1"/>
          <a:r>
            <a:rPr lang="he-IL" dirty="0">
              <a:solidFill>
                <a:schemeClr val="tx1"/>
              </a:solidFill>
            </a:rPr>
            <a:t>שימוש לא נכון – </a:t>
          </a:r>
          <a:r>
            <a:rPr lang="en-US" dirty="0">
              <a:solidFill>
                <a:schemeClr val="tx1"/>
              </a:solidFill>
            </a:rPr>
            <a:t>misuse/errors</a:t>
          </a:r>
        </a:p>
      </dgm:t>
    </dgm:pt>
    <dgm:pt modelId="{52236D44-CF76-4CBA-85B2-BAF8A597384F}" type="parTrans" cxnId="{0677E819-1BDF-4990-828D-45B464029B42}">
      <dgm:prSet/>
      <dgm:spPr/>
      <dgm:t>
        <a:bodyPr/>
        <a:lstStyle/>
        <a:p>
          <a:pPr algn="r" rtl="1"/>
          <a:endParaRPr lang="en-US"/>
        </a:p>
      </dgm:t>
    </dgm:pt>
    <dgm:pt modelId="{0E898B48-A725-4082-BD2D-DA27DDEA8CB8}" type="sibTrans" cxnId="{0677E819-1BDF-4990-828D-45B464029B42}">
      <dgm:prSet/>
      <dgm:spPr/>
      <dgm:t>
        <a:bodyPr/>
        <a:lstStyle/>
        <a:p>
          <a:pPr algn="r" rtl="1"/>
          <a:endParaRPr lang="en-US"/>
        </a:p>
      </dgm:t>
    </dgm:pt>
    <dgm:pt modelId="{A1E27298-E71B-4396-B4FD-BA21ED92F390}">
      <dgm:prSet>
        <dgm:style>
          <a:lnRef idx="3">
            <a:schemeClr val="lt1"/>
          </a:lnRef>
          <a:fillRef idx="1">
            <a:schemeClr val="accent1"/>
          </a:fillRef>
          <a:effectRef idx="1">
            <a:schemeClr val="accent1"/>
          </a:effectRef>
          <a:fontRef idx="minor">
            <a:schemeClr val="lt1"/>
          </a:fontRef>
        </dgm:style>
      </dgm:prSet>
      <dgm:spPr>
        <a:solidFill>
          <a:srgbClr val="93E3FF"/>
        </a:solidFill>
      </dgm:spPr>
      <dgm:t>
        <a:bodyPr/>
        <a:lstStyle/>
        <a:p>
          <a:pPr algn="r" rtl="1"/>
          <a:r>
            <a:rPr lang="he-IL" dirty="0">
              <a:solidFill>
                <a:schemeClr val="tx1"/>
              </a:solidFill>
            </a:rPr>
            <a:t>בזבוז -</a:t>
          </a:r>
          <a:r>
            <a:rPr lang="en-US" dirty="0">
              <a:solidFill>
                <a:schemeClr val="tx1"/>
              </a:solidFill>
            </a:rPr>
            <a:t>  waste </a:t>
          </a:r>
        </a:p>
      </dgm:t>
    </dgm:pt>
    <dgm:pt modelId="{D68CE4EB-A7F1-4911-8FD6-ADCA5BCEB494}" type="parTrans" cxnId="{8B31BF9B-4FDF-4551-B456-6D7AD7A0CEF4}">
      <dgm:prSet/>
      <dgm:spPr/>
      <dgm:t>
        <a:bodyPr/>
        <a:lstStyle/>
        <a:p>
          <a:endParaRPr lang="en-US"/>
        </a:p>
      </dgm:t>
    </dgm:pt>
    <dgm:pt modelId="{7B58E263-0CC3-490B-A80B-C13D8949A564}" type="sibTrans" cxnId="{8B31BF9B-4FDF-4551-B456-6D7AD7A0CEF4}">
      <dgm:prSet/>
      <dgm:spPr/>
      <dgm:t>
        <a:bodyPr/>
        <a:lstStyle/>
        <a:p>
          <a:endParaRPr lang="en-US"/>
        </a:p>
      </dgm:t>
    </dgm:pt>
    <dgm:pt modelId="{729F59B0-D1D8-41B5-8EB1-689921EF0B9B}" type="pres">
      <dgm:prSet presAssocID="{BB80C1DA-FBB5-48C9-B0B4-5D7B5BC0D7F5}" presName="linearFlow" presStyleCnt="0">
        <dgm:presLayoutVars>
          <dgm:dir/>
          <dgm:resizeHandles val="exact"/>
        </dgm:presLayoutVars>
      </dgm:prSet>
      <dgm:spPr/>
    </dgm:pt>
    <dgm:pt modelId="{B1595663-800D-4F26-B0EB-9F0AA44FB54E}" type="pres">
      <dgm:prSet presAssocID="{A3280323-5A9D-4155-9E0E-D8F1DD9BB94B}" presName="composite" presStyleCnt="0"/>
      <dgm:spPr/>
    </dgm:pt>
    <dgm:pt modelId="{648C85CD-2C82-467B-93D2-329512936625}" type="pres">
      <dgm:prSet presAssocID="{A3280323-5A9D-4155-9E0E-D8F1DD9BB94B}" presName="imgShp" presStyleLbl="fgImgPlac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Confused face outline with solid fill"/>
        </a:ext>
      </dgm:extLst>
    </dgm:pt>
    <dgm:pt modelId="{3FFE8ADE-0CBD-47E6-8196-AE4699D15B0C}" type="pres">
      <dgm:prSet presAssocID="{A3280323-5A9D-4155-9E0E-D8F1DD9BB94B}" presName="txShp" presStyleLbl="node1" presStyleIdx="0" presStyleCnt="4">
        <dgm:presLayoutVars>
          <dgm:bulletEnabled val="1"/>
        </dgm:presLayoutVars>
      </dgm:prSet>
      <dgm:spPr/>
    </dgm:pt>
    <dgm:pt modelId="{9A16814B-5211-45F3-9BBE-7021E2117A88}" type="pres">
      <dgm:prSet presAssocID="{DE582C6B-F318-4E0E-ABDE-6BD3A05F9AC3}" presName="spacing" presStyleCnt="0"/>
      <dgm:spPr/>
    </dgm:pt>
    <dgm:pt modelId="{9165E1DB-D438-4AD3-9DD3-3631E9CE1256}" type="pres">
      <dgm:prSet presAssocID="{B90DDF0C-F886-4DCB-84FD-9071CE4C3DC3}" presName="composite" presStyleCnt="0"/>
      <dgm:spPr/>
    </dgm:pt>
    <dgm:pt modelId="{7B29BDB6-435E-4EA5-B978-1BAB838B7179}" type="pres">
      <dgm:prSet presAssocID="{B90DDF0C-F886-4DCB-84FD-9071CE4C3DC3}" presName="imgShp" presStyleLbl="fgImgPlac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Drool face outline with solid fill"/>
        </a:ext>
      </dgm:extLst>
    </dgm:pt>
    <dgm:pt modelId="{1EBFB3AB-ADD5-4792-9F41-B2A7DC2794AE}" type="pres">
      <dgm:prSet presAssocID="{B90DDF0C-F886-4DCB-84FD-9071CE4C3DC3}" presName="txShp" presStyleLbl="node1" presStyleIdx="1" presStyleCnt="4">
        <dgm:presLayoutVars>
          <dgm:bulletEnabled val="1"/>
        </dgm:presLayoutVars>
      </dgm:prSet>
      <dgm:spPr/>
    </dgm:pt>
    <dgm:pt modelId="{82F5E4B6-88A1-4E38-9861-954D4254C543}" type="pres">
      <dgm:prSet presAssocID="{A7E223ED-B8FA-4658-94DD-EBEACEA12D17}" presName="spacing" presStyleCnt="0"/>
      <dgm:spPr/>
    </dgm:pt>
    <dgm:pt modelId="{A86EAF97-1A49-4259-B227-FDB93E20E7C1}" type="pres">
      <dgm:prSet presAssocID="{2F7940C1-051A-4EEE-B3D6-ED7DADEA9C68}" presName="composite" presStyleCnt="0"/>
      <dgm:spPr/>
    </dgm:pt>
    <dgm:pt modelId="{77024CBB-B81B-4B90-82AA-5E0D99DE700D}" type="pres">
      <dgm:prSet presAssocID="{2F7940C1-051A-4EEE-B3D6-ED7DADEA9C68}" presName="imgShp" presStyleLbl="fgImgPlac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Crying face outline with solid fill"/>
        </a:ext>
      </dgm:extLst>
    </dgm:pt>
    <dgm:pt modelId="{DA8B06A7-D755-470A-902B-C419D944C76B}" type="pres">
      <dgm:prSet presAssocID="{2F7940C1-051A-4EEE-B3D6-ED7DADEA9C68}" presName="txShp" presStyleLbl="node1" presStyleIdx="2" presStyleCnt="4">
        <dgm:presLayoutVars>
          <dgm:bulletEnabled val="1"/>
        </dgm:presLayoutVars>
      </dgm:prSet>
      <dgm:spPr/>
    </dgm:pt>
    <dgm:pt modelId="{018356D9-8F64-467A-857F-6AE1B8E8E132}" type="pres">
      <dgm:prSet presAssocID="{0E898B48-A725-4082-BD2D-DA27DDEA8CB8}" presName="spacing" presStyleCnt="0"/>
      <dgm:spPr/>
    </dgm:pt>
    <dgm:pt modelId="{D52A02A6-DE50-46CF-9A15-B36E979CAE0B}" type="pres">
      <dgm:prSet presAssocID="{A1E27298-E71B-4396-B4FD-BA21ED92F390}" presName="composite" presStyleCnt="0"/>
      <dgm:spPr/>
    </dgm:pt>
    <dgm:pt modelId="{9F4CE2EE-C40C-4026-8764-BAC4B66214C2}" type="pres">
      <dgm:prSet presAssocID="{A1E27298-E71B-4396-B4FD-BA21ED92F390}" presName="imgShp" presStyleLbl="fgImgPlac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Angry face outline with solid fill"/>
        </a:ext>
      </dgm:extLst>
    </dgm:pt>
    <dgm:pt modelId="{A72482A9-0B51-4C93-89A3-BF2002DEB8CC}" type="pres">
      <dgm:prSet presAssocID="{A1E27298-E71B-4396-B4FD-BA21ED92F390}" presName="txShp" presStyleLbl="node1" presStyleIdx="3" presStyleCnt="4">
        <dgm:presLayoutVars>
          <dgm:bulletEnabled val="1"/>
        </dgm:presLayoutVars>
      </dgm:prSet>
      <dgm:spPr/>
    </dgm:pt>
  </dgm:ptLst>
  <dgm:cxnLst>
    <dgm:cxn modelId="{0677E819-1BDF-4990-828D-45B464029B42}" srcId="{BB80C1DA-FBB5-48C9-B0B4-5D7B5BC0D7F5}" destId="{2F7940C1-051A-4EEE-B3D6-ED7DADEA9C68}" srcOrd="2" destOrd="0" parTransId="{52236D44-CF76-4CBA-85B2-BAF8A597384F}" sibTransId="{0E898B48-A725-4082-BD2D-DA27DDEA8CB8}"/>
    <dgm:cxn modelId="{A3C2E632-0220-4A2C-A05A-884434D793B4}" type="presOf" srcId="{B90DDF0C-F886-4DCB-84FD-9071CE4C3DC3}" destId="{1EBFB3AB-ADD5-4792-9F41-B2A7DC2794AE}" srcOrd="0" destOrd="0" presId="urn:microsoft.com/office/officeart/2005/8/layout/vList3"/>
    <dgm:cxn modelId="{D0210355-97B6-4073-9CB3-A198A1B92F37}" type="presOf" srcId="{BB80C1DA-FBB5-48C9-B0B4-5D7B5BC0D7F5}" destId="{729F59B0-D1D8-41B5-8EB1-689921EF0B9B}" srcOrd="0" destOrd="0" presId="urn:microsoft.com/office/officeart/2005/8/layout/vList3"/>
    <dgm:cxn modelId="{92A33657-FB71-4B11-B2F5-B92858A3C998}" srcId="{BB80C1DA-FBB5-48C9-B0B4-5D7B5BC0D7F5}" destId="{B90DDF0C-F886-4DCB-84FD-9071CE4C3DC3}" srcOrd="1" destOrd="0" parTransId="{8D197903-FB98-409D-9D08-176F99B5453E}" sibTransId="{A7E223ED-B8FA-4658-94DD-EBEACEA12D17}"/>
    <dgm:cxn modelId="{7A7F7C77-3844-419F-A0AC-9000C504E032}" srcId="{BB80C1DA-FBB5-48C9-B0B4-5D7B5BC0D7F5}" destId="{A3280323-5A9D-4155-9E0E-D8F1DD9BB94B}" srcOrd="0" destOrd="0" parTransId="{6B5530CD-E030-4B38-B365-4DD9F71D290A}" sibTransId="{DE582C6B-F318-4E0E-ABDE-6BD3A05F9AC3}"/>
    <dgm:cxn modelId="{8B31BF9B-4FDF-4551-B456-6D7AD7A0CEF4}" srcId="{BB80C1DA-FBB5-48C9-B0B4-5D7B5BC0D7F5}" destId="{A1E27298-E71B-4396-B4FD-BA21ED92F390}" srcOrd="3" destOrd="0" parTransId="{D68CE4EB-A7F1-4911-8FD6-ADCA5BCEB494}" sibTransId="{7B58E263-0CC3-490B-A80B-C13D8949A564}"/>
    <dgm:cxn modelId="{9BBB639F-A600-4C8D-9D6C-3F5E32546712}" type="presOf" srcId="{A3280323-5A9D-4155-9E0E-D8F1DD9BB94B}" destId="{3FFE8ADE-0CBD-47E6-8196-AE4699D15B0C}" srcOrd="0" destOrd="0" presId="urn:microsoft.com/office/officeart/2005/8/layout/vList3"/>
    <dgm:cxn modelId="{DE88FCD3-E85F-4792-BACD-C41BA72B8726}" type="presOf" srcId="{A1E27298-E71B-4396-B4FD-BA21ED92F390}" destId="{A72482A9-0B51-4C93-89A3-BF2002DEB8CC}" srcOrd="0" destOrd="0" presId="urn:microsoft.com/office/officeart/2005/8/layout/vList3"/>
    <dgm:cxn modelId="{580590FA-A5FE-4777-AB56-6A362DE49C43}" type="presOf" srcId="{2F7940C1-051A-4EEE-B3D6-ED7DADEA9C68}" destId="{DA8B06A7-D755-470A-902B-C419D944C76B}" srcOrd="0" destOrd="0" presId="urn:microsoft.com/office/officeart/2005/8/layout/vList3"/>
    <dgm:cxn modelId="{6FCC3C90-AF38-4BFC-AE41-81F3D31EBEA0}" type="presParOf" srcId="{729F59B0-D1D8-41B5-8EB1-689921EF0B9B}" destId="{B1595663-800D-4F26-B0EB-9F0AA44FB54E}" srcOrd="0" destOrd="0" presId="urn:microsoft.com/office/officeart/2005/8/layout/vList3"/>
    <dgm:cxn modelId="{B0710B2E-2EB2-4019-934D-DD65459A62FC}" type="presParOf" srcId="{B1595663-800D-4F26-B0EB-9F0AA44FB54E}" destId="{648C85CD-2C82-467B-93D2-329512936625}" srcOrd="0" destOrd="0" presId="urn:microsoft.com/office/officeart/2005/8/layout/vList3"/>
    <dgm:cxn modelId="{11112ED1-8EA3-4FF6-9930-D15C4A6149B5}" type="presParOf" srcId="{B1595663-800D-4F26-B0EB-9F0AA44FB54E}" destId="{3FFE8ADE-0CBD-47E6-8196-AE4699D15B0C}" srcOrd="1" destOrd="0" presId="urn:microsoft.com/office/officeart/2005/8/layout/vList3"/>
    <dgm:cxn modelId="{64936F4E-8579-4C9A-ACCF-0C95D07AE5C0}" type="presParOf" srcId="{729F59B0-D1D8-41B5-8EB1-689921EF0B9B}" destId="{9A16814B-5211-45F3-9BBE-7021E2117A88}" srcOrd="1" destOrd="0" presId="urn:microsoft.com/office/officeart/2005/8/layout/vList3"/>
    <dgm:cxn modelId="{6E25D819-A2CD-4AC6-88F5-BF7718C08A5A}" type="presParOf" srcId="{729F59B0-D1D8-41B5-8EB1-689921EF0B9B}" destId="{9165E1DB-D438-4AD3-9DD3-3631E9CE1256}" srcOrd="2" destOrd="0" presId="urn:microsoft.com/office/officeart/2005/8/layout/vList3"/>
    <dgm:cxn modelId="{6F965452-85F1-403A-9D5A-1D60B3427A58}" type="presParOf" srcId="{9165E1DB-D438-4AD3-9DD3-3631E9CE1256}" destId="{7B29BDB6-435E-4EA5-B978-1BAB838B7179}" srcOrd="0" destOrd="0" presId="urn:microsoft.com/office/officeart/2005/8/layout/vList3"/>
    <dgm:cxn modelId="{982625F3-9C28-4B0A-A8D8-27386F91607A}" type="presParOf" srcId="{9165E1DB-D438-4AD3-9DD3-3631E9CE1256}" destId="{1EBFB3AB-ADD5-4792-9F41-B2A7DC2794AE}" srcOrd="1" destOrd="0" presId="urn:microsoft.com/office/officeart/2005/8/layout/vList3"/>
    <dgm:cxn modelId="{2017F537-D43C-4D58-AB98-A5990E454BD7}" type="presParOf" srcId="{729F59B0-D1D8-41B5-8EB1-689921EF0B9B}" destId="{82F5E4B6-88A1-4E38-9861-954D4254C543}" srcOrd="3" destOrd="0" presId="urn:microsoft.com/office/officeart/2005/8/layout/vList3"/>
    <dgm:cxn modelId="{1D0575AF-4BD4-4426-BC03-2F7AA695F30C}" type="presParOf" srcId="{729F59B0-D1D8-41B5-8EB1-689921EF0B9B}" destId="{A86EAF97-1A49-4259-B227-FDB93E20E7C1}" srcOrd="4" destOrd="0" presId="urn:microsoft.com/office/officeart/2005/8/layout/vList3"/>
    <dgm:cxn modelId="{47B578CD-1541-4F60-B9A8-C7B0C1509847}" type="presParOf" srcId="{A86EAF97-1A49-4259-B227-FDB93E20E7C1}" destId="{77024CBB-B81B-4B90-82AA-5E0D99DE700D}" srcOrd="0" destOrd="0" presId="urn:microsoft.com/office/officeart/2005/8/layout/vList3"/>
    <dgm:cxn modelId="{88F84741-7819-4A1B-9EF9-35A879E94412}" type="presParOf" srcId="{A86EAF97-1A49-4259-B227-FDB93E20E7C1}" destId="{DA8B06A7-D755-470A-902B-C419D944C76B}" srcOrd="1" destOrd="0" presId="urn:microsoft.com/office/officeart/2005/8/layout/vList3"/>
    <dgm:cxn modelId="{B984DB3B-E0C9-4D65-9665-6AF9C3325944}" type="presParOf" srcId="{729F59B0-D1D8-41B5-8EB1-689921EF0B9B}" destId="{018356D9-8F64-467A-857F-6AE1B8E8E132}" srcOrd="5" destOrd="0" presId="urn:microsoft.com/office/officeart/2005/8/layout/vList3"/>
    <dgm:cxn modelId="{2C63D9FC-60C2-4999-A134-E97C4AFC3965}" type="presParOf" srcId="{729F59B0-D1D8-41B5-8EB1-689921EF0B9B}" destId="{D52A02A6-DE50-46CF-9A15-B36E979CAE0B}" srcOrd="6" destOrd="0" presId="urn:microsoft.com/office/officeart/2005/8/layout/vList3"/>
    <dgm:cxn modelId="{BC26EBD8-5E8A-4E3C-BCC8-75BFF7B73AF0}" type="presParOf" srcId="{D52A02A6-DE50-46CF-9A15-B36E979CAE0B}" destId="{9F4CE2EE-C40C-4026-8764-BAC4B66214C2}" srcOrd="0" destOrd="0" presId="urn:microsoft.com/office/officeart/2005/8/layout/vList3"/>
    <dgm:cxn modelId="{3F978861-B800-440C-BED5-82682E61A37C}" type="presParOf" srcId="{D52A02A6-DE50-46CF-9A15-B36E979CAE0B}" destId="{A72482A9-0B51-4C93-89A3-BF2002DEB8CC}"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F96903-C624-42E5-B390-83354C4CFA0B}" type="doc">
      <dgm:prSet loTypeId="urn:microsoft.com/office/officeart/2005/8/layout/vList2" loCatId="list" qsTypeId="urn:microsoft.com/office/officeart/2005/8/quickstyle/simple1" qsCatId="simple" csTypeId="urn:microsoft.com/office/officeart/2005/8/colors/accent5_5" csCatId="accent5" phldr="1"/>
      <dgm:spPr/>
      <dgm:t>
        <a:bodyPr/>
        <a:lstStyle/>
        <a:p>
          <a:pPr rtl="1"/>
          <a:endParaRPr lang="he-IL"/>
        </a:p>
      </dgm:t>
    </dgm:pt>
    <dgm:pt modelId="{1230F6EC-AA72-47E8-8420-C6EDE8FB13C6}">
      <dgm:prSet phldrT="[טקסט]" custT="1"/>
      <dgm:spPr/>
      <dgm:t>
        <a:bodyPr/>
        <a:lstStyle/>
        <a:p>
          <a:pPr rtl="1"/>
          <a:r>
            <a:rPr lang="he-IL" sz="3600" b="1" dirty="0"/>
            <a:t>מדד תהליך</a:t>
          </a:r>
        </a:p>
      </dgm:t>
    </dgm:pt>
    <dgm:pt modelId="{D3EC8603-884B-42D4-87A6-8CC0A3DC0C51}" type="parTrans" cxnId="{54906201-7E02-4493-AD57-E039D4C79FC3}">
      <dgm:prSet/>
      <dgm:spPr/>
      <dgm:t>
        <a:bodyPr/>
        <a:lstStyle/>
        <a:p>
          <a:pPr rtl="1"/>
          <a:endParaRPr lang="he-IL"/>
        </a:p>
      </dgm:t>
    </dgm:pt>
    <dgm:pt modelId="{C88AE0A7-19C8-4E5F-93C2-267839DA603C}" type="sibTrans" cxnId="{54906201-7E02-4493-AD57-E039D4C79FC3}">
      <dgm:prSet/>
      <dgm:spPr/>
      <dgm:t>
        <a:bodyPr/>
        <a:lstStyle/>
        <a:p>
          <a:pPr rtl="1"/>
          <a:endParaRPr lang="he-IL"/>
        </a:p>
      </dgm:t>
    </dgm:pt>
    <dgm:pt modelId="{5A6048F0-9F99-4773-A400-CC204A512E81}">
      <dgm:prSet phldrT="[טקסט]" custT="1"/>
      <dgm:spPr/>
      <dgm:t>
        <a:bodyPr/>
        <a:lstStyle/>
        <a:p>
          <a:pPr rtl="1"/>
          <a:r>
            <a:rPr lang="he-IL" sz="1400" b="1" dirty="0"/>
            <a:t>מדדי תהליך בוחנים את מידת ההתאמה של פעולות רפואיות שננקטו להשגת היעד הרצוי: האם ננקטו הפעולות המתאימות? מה היה טיב ביצוען? הנחת היסוד שבבסיס מדדים אלה היא שביצוע הפעולות הנכונות כהלכה מגביר את הסיכוי לקבלת התוצאים הרצויים. תקפותו של המדד נסמכת על ראיות מדעיות מן הספרות, הקושרות בין התהליך לתוצאות הרצויות.</a:t>
          </a:r>
        </a:p>
      </dgm:t>
    </dgm:pt>
    <dgm:pt modelId="{048E9F92-A132-40DD-8E20-87059E09036C}" type="parTrans" cxnId="{7C038048-DC7E-458E-9EA0-245E96D9F516}">
      <dgm:prSet/>
      <dgm:spPr/>
      <dgm:t>
        <a:bodyPr/>
        <a:lstStyle/>
        <a:p>
          <a:pPr rtl="1"/>
          <a:endParaRPr lang="he-IL"/>
        </a:p>
      </dgm:t>
    </dgm:pt>
    <dgm:pt modelId="{1E78922A-8BDB-47E5-B00C-C9D04592BDC2}" type="sibTrans" cxnId="{7C038048-DC7E-458E-9EA0-245E96D9F516}">
      <dgm:prSet/>
      <dgm:spPr/>
      <dgm:t>
        <a:bodyPr/>
        <a:lstStyle/>
        <a:p>
          <a:pPr rtl="1"/>
          <a:endParaRPr lang="he-IL"/>
        </a:p>
      </dgm:t>
    </dgm:pt>
    <dgm:pt modelId="{7E7EAE3F-C2AD-45D9-95E3-77BF266FC5B3}">
      <dgm:prSet phldrT="[טקסט]" custT="1"/>
      <dgm:spPr/>
      <dgm:t>
        <a:bodyPr/>
        <a:lstStyle/>
        <a:p>
          <a:pPr rtl="1"/>
          <a:r>
            <a:rPr lang="he-IL" sz="3600" b="1" dirty="0"/>
            <a:t>מדד תוצא</a:t>
          </a:r>
        </a:p>
      </dgm:t>
    </dgm:pt>
    <dgm:pt modelId="{623A1D97-7DDF-4CE2-ACF0-B17CB7DA609A}" type="parTrans" cxnId="{F8BCCFA9-4862-4A06-BEF4-1B04A5AD40D7}">
      <dgm:prSet/>
      <dgm:spPr/>
      <dgm:t>
        <a:bodyPr/>
        <a:lstStyle/>
        <a:p>
          <a:pPr rtl="1"/>
          <a:endParaRPr lang="he-IL"/>
        </a:p>
      </dgm:t>
    </dgm:pt>
    <dgm:pt modelId="{BFB3C8CD-15FC-49CD-B3A4-6BF55BD1029A}" type="sibTrans" cxnId="{F8BCCFA9-4862-4A06-BEF4-1B04A5AD40D7}">
      <dgm:prSet/>
      <dgm:spPr/>
      <dgm:t>
        <a:bodyPr/>
        <a:lstStyle/>
        <a:p>
          <a:pPr rtl="1"/>
          <a:endParaRPr lang="he-IL"/>
        </a:p>
      </dgm:t>
    </dgm:pt>
    <dgm:pt modelId="{09EC43CC-9CFD-4BCE-9933-86791C552505}">
      <dgm:prSet phldrT="[טקסט]" custT="1"/>
      <dgm:spPr/>
      <dgm:t>
        <a:bodyPr/>
        <a:lstStyle/>
        <a:p>
          <a:pPr rtl="1"/>
          <a:r>
            <a:rPr lang="he-IL" sz="1400" b="1" dirty="0"/>
            <a:t>מדדי תוצא נועדו לשקף את תוצאות הטיפול הניתן לחולה, כגון תמותה לאחר פרוצדורה מסוימת, זיהומים נרכשים וסיבוכים אחרים. ניטור מדדי תוצא ותהליך לאורך זמן מספקים אמת מידה לשיפור האיכות הקלינית במערכת הבריאות. מדדי תוצא יכולים להוות גם מדד עקיף להערכת האיכות הכוללת של הארגון. עם זאת, הם עשויים להיות מושפעים מגורמים שאינם נמדדים או שהם מעבר לשליטת הרופא, כגון השפעות סביבתיות, תשתית, שירותים רפואיים, רקע סוציו-אקונומי של המטופל או מצבים קליניים מורכבים.</a:t>
          </a:r>
          <a:r>
            <a:rPr lang="he-IL" sz="2100" dirty="0"/>
            <a:t> </a:t>
          </a:r>
        </a:p>
      </dgm:t>
    </dgm:pt>
    <dgm:pt modelId="{B3729F3F-808B-426A-A876-449CD827816D}" type="parTrans" cxnId="{BEF2CE77-BD3D-4098-B4B7-E5ABB66FC6AD}">
      <dgm:prSet/>
      <dgm:spPr/>
      <dgm:t>
        <a:bodyPr/>
        <a:lstStyle/>
        <a:p>
          <a:pPr rtl="1"/>
          <a:endParaRPr lang="he-IL"/>
        </a:p>
      </dgm:t>
    </dgm:pt>
    <dgm:pt modelId="{390A70F0-E689-45A4-A9B8-C447064AFB0F}" type="sibTrans" cxnId="{BEF2CE77-BD3D-4098-B4B7-E5ABB66FC6AD}">
      <dgm:prSet/>
      <dgm:spPr/>
      <dgm:t>
        <a:bodyPr/>
        <a:lstStyle/>
        <a:p>
          <a:pPr rtl="1"/>
          <a:endParaRPr lang="he-IL"/>
        </a:p>
      </dgm:t>
    </dgm:pt>
    <dgm:pt modelId="{C6D0F30B-D642-4EBF-9C24-4135E8517564}">
      <dgm:prSet custT="1"/>
      <dgm:spPr/>
      <dgm:t>
        <a:bodyPr/>
        <a:lstStyle/>
        <a:p>
          <a:pPr rtl="1"/>
          <a:r>
            <a:rPr lang="he-IL" sz="3600" b="1" dirty="0"/>
            <a:t>מדדי תשתית ומבנה</a:t>
          </a:r>
        </a:p>
      </dgm:t>
    </dgm:pt>
    <dgm:pt modelId="{522437BD-7568-43E2-B995-55E597F28690}" type="parTrans" cxnId="{9D77BCD9-D30D-4FF6-A0B4-0A7DF21485F7}">
      <dgm:prSet/>
      <dgm:spPr/>
      <dgm:t>
        <a:bodyPr/>
        <a:lstStyle/>
        <a:p>
          <a:pPr rtl="1"/>
          <a:endParaRPr lang="he-IL"/>
        </a:p>
      </dgm:t>
    </dgm:pt>
    <dgm:pt modelId="{467C6F65-9B37-4A4D-82CD-DFDBF133747B}" type="sibTrans" cxnId="{9D77BCD9-D30D-4FF6-A0B4-0A7DF21485F7}">
      <dgm:prSet/>
      <dgm:spPr/>
      <dgm:t>
        <a:bodyPr/>
        <a:lstStyle/>
        <a:p>
          <a:pPr rtl="1"/>
          <a:endParaRPr lang="he-IL"/>
        </a:p>
      </dgm:t>
    </dgm:pt>
    <dgm:pt modelId="{E2FC8946-C1E8-4DD2-8B94-FC90D4D4097A}">
      <dgm:prSet custT="1">
        <dgm:style>
          <a:lnRef idx="2">
            <a:schemeClr val="dk1"/>
          </a:lnRef>
          <a:fillRef idx="1">
            <a:schemeClr val="lt1"/>
          </a:fillRef>
          <a:effectRef idx="0">
            <a:schemeClr val="dk1"/>
          </a:effectRef>
          <a:fontRef idx="minor">
            <a:schemeClr val="dk1"/>
          </a:fontRef>
        </dgm:style>
      </dgm:prSet>
      <dgm:spPr>
        <a:noFill/>
        <a:ln>
          <a:noFill/>
        </a:ln>
      </dgm:spPr>
      <dgm:t>
        <a:bodyPr/>
        <a:lstStyle/>
        <a:p>
          <a:pPr rtl="1"/>
          <a:r>
            <a:rPr lang="he-IL" sz="1400" b="1" dirty="0"/>
            <a:t>מדדי תשתית ומבנה מתייחסים לצורת ההתארגנות וההיערכות של שירותי הבריאות, הרכבם ואופי כוח האדם המטפל וכן לנהלים ולמדיניות רפואית שנוקטים הארגון או מערכת הבריאות. הנחת היסוד שבבסיס מדידה זו היא שארגון בריאות בעל כמות ואיכות מספקת של משאבים חומריים ואנושיים מסוגל לספק שירותי בריאות איכותיים. לדוגמה, זמינותו של ציוד ומכשור הולם בבית חולים ורמת החינוך והניסיון של הצוות הרפואי</a:t>
          </a:r>
        </a:p>
      </dgm:t>
    </dgm:pt>
    <dgm:pt modelId="{4B6431CC-5B5E-476C-867E-8970E5899CE5}" type="parTrans" cxnId="{BC45954E-C058-44EF-9F29-39CB3CAF739B}">
      <dgm:prSet/>
      <dgm:spPr/>
      <dgm:t>
        <a:bodyPr/>
        <a:lstStyle/>
        <a:p>
          <a:pPr rtl="1"/>
          <a:endParaRPr lang="he-IL"/>
        </a:p>
      </dgm:t>
    </dgm:pt>
    <dgm:pt modelId="{598406FB-4032-4615-8586-49763C80F2E1}" type="sibTrans" cxnId="{BC45954E-C058-44EF-9F29-39CB3CAF739B}">
      <dgm:prSet/>
      <dgm:spPr/>
      <dgm:t>
        <a:bodyPr/>
        <a:lstStyle/>
        <a:p>
          <a:pPr rtl="1"/>
          <a:endParaRPr lang="he-IL"/>
        </a:p>
      </dgm:t>
    </dgm:pt>
    <dgm:pt modelId="{FCFBB1EE-38C2-4301-967C-7A4A9DD01977}" type="pres">
      <dgm:prSet presAssocID="{57F96903-C624-42E5-B390-83354C4CFA0B}" presName="linear" presStyleCnt="0">
        <dgm:presLayoutVars>
          <dgm:animLvl val="lvl"/>
          <dgm:resizeHandles val="exact"/>
        </dgm:presLayoutVars>
      </dgm:prSet>
      <dgm:spPr/>
    </dgm:pt>
    <dgm:pt modelId="{AED37006-61CC-464B-9904-F5DFAA60316F}" type="pres">
      <dgm:prSet presAssocID="{1230F6EC-AA72-47E8-8420-C6EDE8FB13C6}" presName="parentText" presStyleLbl="node1" presStyleIdx="0" presStyleCnt="4">
        <dgm:presLayoutVars>
          <dgm:chMax val="0"/>
          <dgm:bulletEnabled val="1"/>
        </dgm:presLayoutVars>
      </dgm:prSet>
      <dgm:spPr/>
    </dgm:pt>
    <dgm:pt modelId="{6BE89BB9-7484-4C14-B26A-314ADC1648DF}" type="pres">
      <dgm:prSet presAssocID="{1230F6EC-AA72-47E8-8420-C6EDE8FB13C6}" presName="childText" presStyleLbl="revTx" presStyleIdx="0" presStyleCnt="2">
        <dgm:presLayoutVars>
          <dgm:bulletEnabled val="1"/>
        </dgm:presLayoutVars>
      </dgm:prSet>
      <dgm:spPr/>
    </dgm:pt>
    <dgm:pt modelId="{0D183876-B14A-41BB-917B-07D498C6F1E6}" type="pres">
      <dgm:prSet presAssocID="{7E7EAE3F-C2AD-45D9-95E3-77BF266FC5B3}" presName="parentText" presStyleLbl="node1" presStyleIdx="1" presStyleCnt="4">
        <dgm:presLayoutVars>
          <dgm:chMax val="0"/>
          <dgm:bulletEnabled val="1"/>
        </dgm:presLayoutVars>
      </dgm:prSet>
      <dgm:spPr/>
    </dgm:pt>
    <dgm:pt modelId="{22B46538-386B-4B6D-9C4E-59240383D496}" type="pres">
      <dgm:prSet presAssocID="{7E7EAE3F-C2AD-45D9-95E3-77BF266FC5B3}" presName="childText" presStyleLbl="revTx" presStyleIdx="1" presStyleCnt="2">
        <dgm:presLayoutVars>
          <dgm:bulletEnabled val="1"/>
        </dgm:presLayoutVars>
      </dgm:prSet>
      <dgm:spPr/>
    </dgm:pt>
    <dgm:pt modelId="{510495A2-3697-40F1-BEBF-421AA5F41894}" type="pres">
      <dgm:prSet presAssocID="{C6D0F30B-D642-4EBF-9C24-4135E8517564}" presName="parentText" presStyleLbl="node1" presStyleIdx="2" presStyleCnt="4">
        <dgm:presLayoutVars>
          <dgm:chMax val="0"/>
          <dgm:bulletEnabled val="1"/>
        </dgm:presLayoutVars>
      </dgm:prSet>
      <dgm:spPr/>
    </dgm:pt>
    <dgm:pt modelId="{6BAADF5C-BA13-42F2-8FAE-8AC9722D8B8E}" type="pres">
      <dgm:prSet presAssocID="{467C6F65-9B37-4A4D-82CD-DFDBF133747B}" presName="spacer" presStyleCnt="0"/>
      <dgm:spPr/>
    </dgm:pt>
    <dgm:pt modelId="{EE74D3E6-BF56-47E0-80E1-C8BA243E8466}" type="pres">
      <dgm:prSet presAssocID="{E2FC8946-C1E8-4DD2-8B94-FC90D4D4097A}" presName="parentText" presStyleLbl="node1" presStyleIdx="3" presStyleCnt="4">
        <dgm:presLayoutVars>
          <dgm:chMax val="0"/>
          <dgm:bulletEnabled val="1"/>
        </dgm:presLayoutVars>
      </dgm:prSet>
      <dgm:spPr/>
    </dgm:pt>
  </dgm:ptLst>
  <dgm:cxnLst>
    <dgm:cxn modelId="{54906201-7E02-4493-AD57-E039D4C79FC3}" srcId="{57F96903-C624-42E5-B390-83354C4CFA0B}" destId="{1230F6EC-AA72-47E8-8420-C6EDE8FB13C6}" srcOrd="0" destOrd="0" parTransId="{D3EC8603-884B-42D4-87A6-8CC0A3DC0C51}" sibTransId="{C88AE0A7-19C8-4E5F-93C2-267839DA603C}"/>
    <dgm:cxn modelId="{7608BC15-823B-48EF-9078-5B0630C85DF8}" type="presOf" srcId="{1230F6EC-AA72-47E8-8420-C6EDE8FB13C6}" destId="{AED37006-61CC-464B-9904-F5DFAA60316F}" srcOrd="0" destOrd="0" presId="urn:microsoft.com/office/officeart/2005/8/layout/vList2"/>
    <dgm:cxn modelId="{17E25F43-1B6A-4CD6-B9AB-E623AFE2AC27}" type="presOf" srcId="{5A6048F0-9F99-4773-A400-CC204A512E81}" destId="{6BE89BB9-7484-4C14-B26A-314ADC1648DF}" srcOrd="0" destOrd="0" presId="urn:microsoft.com/office/officeart/2005/8/layout/vList2"/>
    <dgm:cxn modelId="{7C038048-DC7E-458E-9EA0-245E96D9F516}" srcId="{1230F6EC-AA72-47E8-8420-C6EDE8FB13C6}" destId="{5A6048F0-9F99-4773-A400-CC204A512E81}" srcOrd="0" destOrd="0" parTransId="{048E9F92-A132-40DD-8E20-87059E09036C}" sibTransId="{1E78922A-8BDB-47E5-B00C-C9D04592BDC2}"/>
    <dgm:cxn modelId="{0207906E-9523-4A63-921F-15611FEEB514}" type="presOf" srcId="{57F96903-C624-42E5-B390-83354C4CFA0B}" destId="{FCFBB1EE-38C2-4301-967C-7A4A9DD01977}" srcOrd="0" destOrd="0" presId="urn:microsoft.com/office/officeart/2005/8/layout/vList2"/>
    <dgm:cxn modelId="{BC45954E-C058-44EF-9F29-39CB3CAF739B}" srcId="{57F96903-C624-42E5-B390-83354C4CFA0B}" destId="{E2FC8946-C1E8-4DD2-8B94-FC90D4D4097A}" srcOrd="3" destOrd="0" parTransId="{4B6431CC-5B5E-476C-867E-8970E5899CE5}" sibTransId="{598406FB-4032-4615-8586-49763C80F2E1}"/>
    <dgm:cxn modelId="{205A1572-EF26-4FFF-B28A-15C6077ADEE1}" type="presOf" srcId="{09EC43CC-9CFD-4BCE-9933-86791C552505}" destId="{22B46538-386B-4B6D-9C4E-59240383D496}" srcOrd="0" destOrd="0" presId="urn:microsoft.com/office/officeart/2005/8/layout/vList2"/>
    <dgm:cxn modelId="{E9521456-3BE7-4B44-B9E1-7A341BD20AAB}" type="presOf" srcId="{E2FC8946-C1E8-4DD2-8B94-FC90D4D4097A}" destId="{EE74D3E6-BF56-47E0-80E1-C8BA243E8466}" srcOrd="0" destOrd="0" presId="urn:microsoft.com/office/officeart/2005/8/layout/vList2"/>
    <dgm:cxn modelId="{BEF2CE77-BD3D-4098-B4B7-E5ABB66FC6AD}" srcId="{7E7EAE3F-C2AD-45D9-95E3-77BF266FC5B3}" destId="{09EC43CC-9CFD-4BCE-9933-86791C552505}" srcOrd="0" destOrd="0" parTransId="{B3729F3F-808B-426A-A876-449CD827816D}" sibTransId="{390A70F0-E689-45A4-A9B8-C447064AFB0F}"/>
    <dgm:cxn modelId="{B7A6FC77-E3E4-4849-8E00-F4607D4717C4}" type="presOf" srcId="{C6D0F30B-D642-4EBF-9C24-4135E8517564}" destId="{510495A2-3697-40F1-BEBF-421AA5F41894}" srcOrd="0" destOrd="0" presId="urn:microsoft.com/office/officeart/2005/8/layout/vList2"/>
    <dgm:cxn modelId="{F8BCCFA9-4862-4A06-BEF4-1B04A5AD40D7}" srcId="{57F96903-C624-42E5-B390-83354C4CFA0B}" destId="{7E7EAE3F-C2AD-45D9-95E3-77BF266FC5B3}" srcOrd="1" destOrd="0" parTransId="{623A1D97-7DDF-4CE2-ACF0-B17CB7DA609A}" sibTransId="{BFB3C8CD-15FC-49CD-B3A4-6BF55BD1029A}"/>
    <dgm:cxn modelId="{C6ADBDAF-998F-4C7E-97A6-273D841B13B0}" type="presOf" srcId="{7E7EAE3F-C2AD-45D9-95E3-77BF266FC5B3}" destId="{0D183876-B14A-41BB-917B-07D498C6F1E6}" srcOrd="0" destOrd="0" presId="urn:microsoft.com/office/officeart/2005/8/layout/vList2"/>
    <dgm:cxn modelId="{9D77BCD9-D30D-4FF6-A0B4-0A7DF21485F7}" srcId="{57F96903-C624-42E5-B390-83354C4CFA0B}" destId="{C6D0F30B-D642-4EBF-9C24-4135E8517564}" srcOrd="2" destOrd="0" parTransId="{522437BD-7568-43E2-B995-55E597F28690}" sibTransId="{467C6F65-9B37-4A4D-82CD-DFDBF133747B}"/>
    <dgm:cxn modelId="{E0F07588-DE5A-49D5-A328-3FF09F309C54}" type="presParOf" srcId="{FCFBB1EE-38C2-4301-967C-7A4A9DD01977}" destId="{AED37006-61CC-464B-9904-F5DFAA60316F}" srcOrd="0" destOrd="0" presId="urn:microsoft.com/office/officeart/2005/8/layout/vList2"/>
    <dgm:cxn modelId="{F12B88F0-9208-4414-A7D7-F934E1E056DB}" type="presParOf" srcId="{FCFBB1EE-38C2-4301-967C-7A4A9DD01977}" destId="{6BE89BB9-7484-4C14-B26A-314ADC1648DF}" srcOrd="1" destOrd="0" presId="urn:microsoft.com/office/officeart/2005/8/layout/vList2"/>
    <dgm:cxn modelId="{E9F9611F-33A1-41AB-8FF6-8379D41B8F4B}" type="presParOf" srcId="{FCFBB1EE-38C2-4301-967C-7A4A9DD01977}" destId="{0D183876-B14A-41BB-917B-07D498C6F1E6}" srcOrd="2" destOrd="0" presId="urn:microsoft.com/office/officeart/2005/8/layout/vList2"/>
    <dgm:cxn modelId="{9FEF981A-5451-497B-893F-62D4B06FE370}" type="presParOf" srcId="{FCFBB1EE-38C2-4301-967C-7A4A9DD01977}" destId="{22B46538-386B-4B6D-9C4E-59240383D496}" srcOrd="3" destOrd="0" presId="urn:microsoft.com/office/officeart/2005/8/layout/vList2"/>
    <dgm:cxn modelId="{2D939768-0ED2-4ED5-9254-CCC3804BADE4}" type="presParOf" srcId="{FCFBB1EE-38C2-4301-967C-7A4A9DD01977}" destId="{510495A2-3697-40F1-BEBF-421AA5F41894}" srcOrd="4" destOrd="0" presId="urn:microsoft.com/office/officeart/2005/8/layout/vList2"/>
    <dgm:cxn modelId="{08D41655-AC7C-4CBB-BEF2-731E7738BD0E}" type="presParOf" srcId="{FCFBB1EE-38C2-4301-967C-7A4A9DD01977}" destId="{6BAADF5C-BA13-42F2-8FAE-8AC9722D8B8E}" srcOrd="5" destOrd="0" presId="urn:microsoft.com/office/officeart/2005/8/layout/vList2"/>
    <dgm:cxn modelId="{8693E8B7-D222-4A2A-90C0-4873504AC86C}" type="presParOf" srcId="{FCFBB1EE-38C2-4301-967C-7A4A9DD01977}" destId="{EE74D3E6-BF56-47E0-80E1-C8BA243E8466}"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FE8ADE-0CBD-47E6-8196-AE4699D15B0C}">
      <dsp:nvSpPr>
        <dsp:cNvPr id="0" name=""/>
        <dsp:cNvSpPr/>
      </dsp:nvSpPr>
      <dsp:spPr>
        <a:xfrm rot="10800000">
          <a:off x="2030987" y="2105"/>
          <a:ext cx="7282770" cy="786419"/>
        </a:xfrm>
        <a:prstGeom prst="homePlate">
          <a:avLst/>
        </a:prstGeom>
        <a:solidFill>
          <a:srgbClr val="93E3FF"/>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6789" tIns="137160" rIns="256032" bIns="137160" numCol="1" spcCol="1270" anchor="ctr" anchorCtr="0">
          <a:noAutofit/>
        </a:bodyPr>
        <a:lstStyle/>
        <a:p>
          <a:pPr marL="0" lvl="0" indent="0" algn="r" defTabSz="1600200" rtl="1">
            <a:lnSpc>
              <a:spcPct val="90000"/>
            </a:lnSpc>
            <a:spcBef>
              <a:spcPct val="0"/>
            </a:spcBef>
            <a:spcAft>
              <a:spcPct val="35000"/>
            </a:spcAft>
            <a:buNone/>
          </a:pPr>
          <a:r>
            <a:rPr lang="he-IL" sz="3600" kern="1200" dirty="0">
              <a:solidFill>
                <a:schemeClr val="tx1"/>
              </a:solidFill>
            </a:rPr>
            <a:t>תת שימוש - </a:t>
          </a:r>
          <a:r>
            <a:rPr lang="en-US" sz="3600" kern="1200" dirty="0">
              <a:solidFill>
                <a:schemeClr val="tx1"/>
              </a:solidFill>
            </a:rPr>
            <a:t>underuse</a:t>
          </a:r>
        </a:p>
      </dsp:txBody>
      <dsp:txXfrm rot="10800000">
        <a:off x="2227592" y="2105"/>
        <a:ext cx="7086165" cy="786419"/>
      </dsp:txXfrm>
    </dsp:sp>
    <dsp:sp modelId="{648C85CD-2C82-467B-93D2-329512936625}">
      <dsp:nvSpPr>
        <dsp:cNvPr id="0" name=""/>
        <dsp:cNvSpPr/>
      </dsp:nvSpPr>
      <dsp:spPr>
        <a:xfrm>
          <a:off x="1637777" y="2105"/>
          <a:ext cx="786419" cy="786419"/>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a:effectLst/>
      </dsp:spPr>
      <dsp:style>
        <a:lnRef idx="0">
          <a:scrgbClr r="0" g="0" b="0"/>
        </a:lnRef>
        <a:fillRef idx="1">
          <a:scrgbClr r="0" g="0" b="0"/>
        </a:fillRef>
        <a:effectRef idx="2">
          <a:scrgbClr r="0" g="0" b="0"/>
        </a:effectRef>
        <a:fontRef idx="minor"/>
      </dsp:style>
    </dsp:sp>
    <dsp:sp modelId="{1EBFB3AB-ADD5-4792-9F41-B2A7DC2794AE}">
      <dsp:nvSpPr>
        <dsp:cNvPr id="0" name=""/>
        <dsp:cNvSpPr/>
      </dsp:nvSpPr>
      <dsp:spPr>
        <a:xfrm rot="10800000">
          <a:off x="2030987" y="989659"/>
          <a:ext cx="7282770" cy="786419"/>
        </a:xfrm>
        <a:prstGeom prst="homePlate">
          <a:avLst/>
        </a:prstGeom>
        <a:solidFill>
          <a:srgbClr val="93E3FF"/>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6789" tIns="137160" rIns="256032" bIns="137160" numCol="1" spcCol="1270" anchor="ctr" anchorCtr="0">
          <a:noAutofit/>
        </a:bodyPr>
        <a:lstStyle/>
        <a:p>
          <a:pPr marL="0" lvl="0" indent="0" algn="r" defTabSz="1600200" rtl="1">
            <a:lnSpc>
              <a:spcPct val="90000"/>
            </a:lnSpc>
            <a:spcBef>
              <a:spcPct val="0"/>
            </a:spcBef>
            <a:spcAft>
              <a:spcPct val="35000"/>
            </a:spcAft>
            <a:buNone/>
          </a:pPr>
          <a:r>
            <a:rPr lang="he-IL" sz="3600" kern="1200" dirty="0">
              <a:solidFill>
                <a:schemeClr val="tx1"/>
              </a:solidFill>
            </a:rPr>
            <a:t>שימוש יתר - </a:t>
          </a:r>
          <a:r>
            <a:rPr lang="en-US" sz="3600" kern="1200" dirty="0">
              <a:solidFill>
                <a:schemeClr val="tx1"/>
              </a:solidFill>
            </a:rPr>
            <a:t>overuse</a:t>
          </a:r>
        </a:p>
      </dsp:txBody>
      <dsp:txXfrm rot="10800000">
        <a:off x="2227592" y="989659"/>
        <a:ext cx="7086165" cy="786419"/>
      </dsp:txXfrm>
    </dsp:sp>
    <dsp:sp modelId="{7B29BDB6-435E-4EA5-B978-1BAB838B7179}">
      <dsp:nvSpPr>
        <dsp:cNvPr id="0" name=""/>
        <dsp:cNvSpPr/>
      </dsp:nvSpPr>
      <dsp:spPr>
        <a:xfrm>
          <a:off x="1637777" y="989659"/>
          <a:ext cx="786419" cy="786419"/>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a:effectLst/>
      </dsp:spPr>
      <dsp:style>
        <a:lnRef idx="0">
          <a:scrgbClr r="0" g="0" b="0"/>
        </a:lnRef>
        <a:fillRef idx="1">
          <a:scrgbClr r="0" g="0" b="0"/>
        </a:fillRef>
        <a:effectRef idx="2">
          <a:scrgbClr r="0" g="0" b="0"/>
        </a:effectRef>
        <a:fontRef idx="minor"/>
      </dsp:style>
    </dsp:sp>
    <dsp:sp modelId="{DA8B06A7-D755-470A-902B-C419D944C76B}">
      <dsp:nvSpPr>
        <dsp:cNvPr id="0" name=""/>
        <dsp:cNvSpPr/>
      </dsp:nvSpPr>
      <dsp:spPr>
        <a:xfrm rot="10800000">
          <a:off x="2030987" y="1977213"/>
          <a:ext cx="7282770" cy="786419"/>
        </a:xfrm>
        <a:prstGeom prst="homePlate">
          <a:avLst/>
        </a:prstGeom>
        <a:solidFill>
          <a:srgbClr val="93E3FF"/>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6789" tIns="137160" rIns="256032" bIns="137160" numCol="1" spcCol="1270" anchor="ctr" anchorCtr="0">
          <a:noAutofit/>
        </a:bodyPr>
        <a:lstStyle/>
        <a:p>
          <a:pPr marL="0" lvl="0" indent="0" algn="r" defTabSz="1600200" rtl="1">
            <a:lnSpc>
              <a:spcPct val="90000"/>
            </a:lnSpc>
            <a:spcBef>
              <a:spcPct val="0"/>
            </a:spcBef>
            <a:spcAft>
              <a:spcPct val="35000"/>
            </a:spcAft>
            <a:buNone/>
          </a:pPr>
          <a:r>
            <a:rPr lang="he-IL" sz="3600" kern="1200" dirty="0">
              <a:solidFill>
                <a:schemeClr val="tx1"/>
              </a:solidFill>
            </a:rPr>
            <a:t>שימוש לא נכון – </a:t>
          </a:r>
          <a:r>
            <a:rPr lang="en-US" sz="3600" kern="1200" dirty="0">
              <a:solidFill>
                <a:schemeClr val="tx1"/>
              </a:solidFill>
            </a:rPr>
            <a:t>misuse/errors</a:t>
          </a:r>
        </a:p>
      </dsp:txBody>
      <dsp:txXfrm rot="10800000">
        <a:off x="2227592" y="1977213"/>
        <a:ext cx="7086165" cy="786419"/>
      </dsp:txXfrm>
    </dsp:sp>
    <dsp:sp modelId="{77024CBB-B81B-4B90-82AA-5E0D99DE700D}">
      <dsp:nvSpPr>
        <dsp:cNvPr id="0" name=""/>
        <dsp:cNvSpPr/>
      </dsp:nvSpPr>
      <dsp:spPr>
        <a:xfrm>
          <a:off x="1637777" y="1977213"/>
          <a:ext cx="786419" cy="786419"/>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a:effectLst/>
      </dsp:spPr>
      <dsp:style>
        <a:lnRef idx="0">
          <a:scrgbClr r="0" g="0" b="0"/>
        </a:lnRef>
        <a:fillRef idx="1">
          <a:scrgbClr r="0" g="0" b="0"/>
        </a:fillRef>
        <a:effectRef idx="2">
          <a:scrgbClr r="0" g="0" b="0"/>
        </a:effectRef>
        <a:fontRef idx="minor"/>
      </dsp:style>
    </dsp:sp>
    <dsp:sp modelId="{A72482A9-0B51-4C93-89A3-BF2002DEB8CC}">
      <dsp:nvSpPr>
        <dsp:cNvPr id="0" name=""/>
        <dsp:cNvSpPr/>
      </dsp:nvSpPr>
      <dsp:spPr>
        <a:xfrm rot="10800000">
          <a:off x="2030987" y="2964768"/>
          <a:ext cx="7282770" cy="786419"/>
        </a:xfrm>
        <a:prstGeom prst="homePlate">
          <a:avLst/>
        </a:prstGeom>
        <a:solidFill>
          <a:srgbClr val="93E3FF"/>
        </a:solidFill>
        <a:ln w="19050" cap="flat" cmpd="sng" algn="ctr">
          <a:solidFill>
            <a:schemeClr val="lt1"/>
          </a:solidFill>
          <a:prstDash val="solid"/>
          <a:miter lim="800000"/>
        </a:ln>
        <a:effectLst/>
      </dsp:spPr>
      <dsp:style>
        <a:lnRef idx="3">
          <a:schemeClr val="lt1"/>
        </a:lnRef>
        <a:fillRef idx="1">
          <a:schemeClr val="accent1"/>
        </a:fillRef>
        <a:effectRef idx="1">
          <a:schemeClr val="accent1"/>
        </a:effectRef>
        <a:fontRef idx="minor">
          <a:schemeClr val="lt1"/>
        </a:fontRef>
      </dsp:style>
      <dsp:txBody>
        <a:bodyPr spcFirstLastPara="0" vert="horz" wrap="square" lIns="346789" tIns="137160" rIns="256032" bIns="137160" numCol="1" spcCol="1270" anchor="ctr" anchorCtr="0">
          <a:noAutofit/>
        </a:bodyPr>
        <a:lstStyle/>
        <a:p>
          <a:pPr marL="0" lvl="0" indent="0" algn="r" defTabSz="1600200" rtl="1">
            <a:lnSpc>
              <a:spcPct val="90000"/>
            </a:lnSpc>
            <a:spcBef>
              <a:spcPct val="0"/>
            </a:spcBef>
            <a:spcAft>
              <a:spcPct val="35000"/>
            </a:spcAft>
            <a:buNone/>
          </a:pPr>
          <a:r>
            <a:rPr lang="he-IL" sz="3600" kern="1200" dirty="0">
              <a:solidFill>
                <a:schemeClr val="tx1"/>
              </a:solidFill>
            </a:rPr>
            <a:t>בזבוז -</a:t>
          </a:r>
          <a:r>
            <a:rPr lang="en-US" sz="3600" kern="1200" dirty="0">
              <a:solidFill>
                <a:schemeClr val="tx1"/>
              </a:solidFill>
            </a:rPr>
            <a:t>  waste </a:t>
          </a:r>
        </a:p>
      </dsp:txBody>
      <dsp:txXfrm rot="10800000">
        <a:off x="2227592" y="2964768"/>
        <a:ext cx="7086165" cy="786419"/>
      </dsp:txXfrm>
    </dsp:sp>
    <dsp:sp modelId="{9F4CE2EE-C40C-4026-8764-BAC4B66214C2}">
      <dsp:nvSpPr>
        <dsp:cNvPr id="0" name=""/>
        <dsp:cNvSpPr/>
      </dsp:nvSpPr>
      <dsp:spPr>
        <a:xfrm>
          <a:off x="1637777" y="2964768"/>
          <a:ext cx="786419" cy="786419"/>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a:effectLst/>
      </dsp:spPr>
      <dsp:style>
        <a:lnRef idx="0">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37006-61CC-464B-9904-F5DFAA60316F}">
      <dsp:nvSpPr>
        <dsp:cNvPr id="0" name=""/>
        <dsp:cNvSpPr/>
      </dsp:nvSpPr>
      <dsp:spPr>
        <a:xfrm>
          <a:off x="0" y="25996"/>
          <a:ext cx="10733101" cy="898560"/>
        </a:xfrm>
        <a:prstGeom prst="round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r" defTabSz="1600200" rtl="1">
            <a:lnSpc>
              <a:spcPct val="90000"/>
            </a:lnSpc>
            <a:spcBef>
              <a:spcPct val="0"/>
            </a:spcBef>
            <a:spcAft>
              <a:spcPct val="35000"/>
            </a:spcAft>
            <a:buNone/>
          </a:pPr>
          <a:r>
            <a:rPr lang="he-IL" sz="3600" b="1" kern="1200" dirty="0"/>
            <a:t>מדד תהליך</a:t>
          </a:r>
        </a:p>
      </dsp:txBody>
      <dsp:txXfrm>
        <a:off x="43864" y="69860"/>
        <a:ext cx="10645373" cy="810832"/>
      </dsp:txXfrm>
    </dsp:sp>
    <dsp:sp modelId="{6BE89BB9-7484-4C14-B26A-314ADC1648DF}">
      <dsp:nvSpPr>
        <dsp:cNvPr id="0" name=""/>
        <dsp:cNvSpPr/>
      </dsp:nvSpPr>
      <dsp:spPr>
        <a:xfrm>
          <a:off x="0" y="924556"/>
          <a:ext cx="10733101" cy="794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0776" tIns="17780" rIns="99568" bIns="17780" numCol="1" spcCol="1270" anchor="t" anchorCtr="0">
          <a:noAutofit/>
        </a:bodyPr>
        <a:lstStyle/>
        <a:p>
          <a:pPr marL="114300" lvl="1" indent="-114300" algn="r" defTabSz="622300" rtl="1">
            <a:lnSpc>
              <a:spcPct val="90000"/>
            </a:lnSpc>
            <a:spcBef>
              <a:spcPct val="0"/>
            </a:spcBef>
            <a:spcAft>
              <a:spcPct val="20000"/>
            </a:spcAft>
            <a:buChar char="•"/>
          </a:pPr>
          <a:r>
            <a:rPr lang="he-IL" sz="1400" b="1" kern="1200" dirty="0"/>
            <a:t>מדדי תהליך בוחנים את מידת ההתאמה של פעולות רפואיות שננקטו להשגת היעד הרצוי: האם ננקטו הפעולות המתאימות? מה היה טיב ביצוען? הנחת היסוד שבבסיס מדדים אלה היא שביצוע הפעולות הנכונות כהלכה מגביר את הסיכוי לקבלת התוצאים הרצויים. תקפותו של המדד נסמכת על ראיות מדעיות מן הספרות, הקושרות בין התהליך לתוצאות הרצויות.</a:t>
          </a:r>
        </a:p>
      </dsp:txBody>
      <dsp:txXfrm>
        <a:off x="0" y="924556"/>
        <a:ext cx="10733101" cy="794880"/>
      </dsp:txXfrm>
    </dsp:sp>
    <dsp:sp modelId="{0D183876-B14A-41BB-917B-07D498C6F1E6}">
      <dsp:nvSpPr>
        <dsp:cNvPr id="0" name=""/>
        <dsp:cNvSpPr/>
      </dsp:nvSpPr>
      <dsp:spPr>
        <a:xfrm>
          <a:off x="0" y="1719436"/>
          <a:ext cx="10733101" cy="898560"/>
        </a:xfrm>
        <a:prstGeom prst="roundRect">
          <a:avLst/>
        </a:prstGeom>
        <a:solidFill>
          <a:schemeClr val="accent5">
            <a:alpha val="90000"/>
            <a:hueOff val="0"/>
            <a:satOff val="0"/>
            <a:lumOff val="0"/>
            <a:alphaOff val="-13333"/>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r" defTabSz="1600200" rtl="1">
            <a:lnSpc>
              <a:spcPct val="90000"/>
            </a:lnSpc>
            <a:spcBef>
              <a:spcPct val="0"/>
            </a:spcBef>
            <a:spcAft>
              <a:spcPct val="35000"/>
            </a:spcAft>
            <a:buNone/>
          </a:pPr>
          <a:r>
            <a:rPr lang="he-IL" sz="3600" b="1" kern="1200" dirty="0"/>
            <a:t>מדד תוצא</a:t>
          </a:r>
        </a:p>
      </dsp:txBody>
      <dsp:txXfrm>
        <a:off x="43864" y="1763300"/>
        <a:ext cx="10645373" cy="810832"/>
      </dsp:txXfrm>
    </dsp:sp>
    <dsp:sp modelId="{22B46538-386B-4B6D-9C4E-59240383D496}">
      <dsp:nvSpPr>
        <dsp:cNvPr id="0" name=""/>
        <dsp:cNvSpPr/>
      </dsp:nvSpPr>
      <dsp:spPr>
        <a:xfrm>
          <a:off x="0" y="2617996"/>
          <a:ext cx="10733101" cy="869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0776" tIns="17780" rIns="99568" bIns="17780" numCol="1" spcCol="1270" anchor="t" anchorCtr="0">
          <a:noAutofit/>
        </a:bodyPr>
        <a:lstStyle/>
        <a:p>
          <a:pPr marL="114300" lvl="1" indent="-114300" algn="r" defTabSz="622300" rtl="1">
            <a:lnSpc>
              <a:spcPct val="90000"/>
            </a:lnSpc>
            <a:spcBef>
              <a:spcPct val="0"/>
            </a:spcBef>
            <a:spcAft>
              <a:spcPct val="20000"/>
            </a:spcAft>
            <a:buChar char="•"/>
          </a:pPr>
          <a:r>
            <a:rPr lang="he-IL" sz="1400" b="1" kern="1200" dirty="0"/>
            <a:t>מדדי תוצא נועדו לשקף את תוצאות הטיפול הניתן לחולה, כגון תמותה לאחר פרוצדורה מסוימת, זיהומים נרכשים וסיבוכים אחרים. ניטור מדדי תוצא ותהליך לאורך זמן מספקים אמת מידה לשיפור האיכות הקלינית במערכת הבריאות. מדדי תוצא יכולים להוות גם מדד עקיף להערכת האיכות הכוללת של הארגון. עם זאת, הם עשויים להיות מושפעים מגורמים שאינם נמדדים או שהם מעבר לשליטת הרופא, כגון השפעות סביבתיות, תשתית, שירותים רפואיים, רקע סוציו-אקונומי של המטופל או מצבים קליניים מורכבים.</a:t>
          </a:r>
          <a:r>
            <a:rPr lang="he-IL" sz="2100" kern="1200" dirty="0"/>
            <a:t> </a:t>
          </a:r>
        </a:p>
      </dsp:txBody>
      <dsp:txXfrm>
        <a:off x="0" y="2617996"/>
        <a:ext cx="10733101" cy="869400"/>
      </dsp:txXfrm>
    </dsp:sp>
    <dsp:sp modelId="{510495A2-3697-40F1-BEBF-421AA5F41894}">
      <dsp:nvSpPr>
        <dsp:cNvPr id="0" name=""/>
        <dsp:cNvSpPr/>
      </dsp:nvSpPr>
      <dsp:spPr>
        <a:xfrm>
          <a:off x="0" y="3487396"/>
          <a:ext cx="10733101" cy="898560"/>
        </a:xfrm>
        <a:prstGeom prst="roundRect">
          <a:avLst/>
        </a:prstGeom>
        <a:solidFill>
          <a:schemeClr val="accent5">
            <a:alpha val="90000"/>
            <a:hueOff val="0"/>
            <a:satOff val="0"/>
            <a:lumOff val="0"/>
            <a:alphaOff val="-26667"/>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r" defTabSz="1600200" rtl="1">
            <a:lnSpc>
              <a:spcPct val="90000"/>
            </a:lnSpc>
            <a:spcBef>
              <a:spcPct val="0"/>
            </a:spcBef>
            <a:spcAft>
              <a:spcPct val="35000"/>
            </a:spcAft>
            <a:buNone/>
          </a:pPr>
          <a:r>
            <a:rPr lang="he-IL" sz="3600" b="1" kern="1200" dirty="0"/>
            <a:t>מדדי תשתית ומבנה</a:t>
          </a:r>
        </a:p>
      </dsp:txBody>
      <dsp:txXfrm>
        <a:off x="43864" y="3531260"/>
        <a:ext cx="10645373" cy="810832"/>
      </dsp:txXfrm>
    </dsp:sp>
    <dsp:sp modelId="{EE74D3E6-BF56-47E0-80E1-C8BA243E8466}">
      <dsp:nvSpPr>
        <dsp:cNvPr id="0" name=""/>
        <dsp:cNvSpPr/>
      </dsp:nvSpPr>
      <dsp:spPr>
        <a:xfrm>
          <a:off x="0" y="4524196"/>
          <a:ext cx="10733101" cy="898560"/>
        </a:xfrm>
        <a:prstGeom prst="roundRect">
          <a:avLst/>
        </a:prstGeom>
        <a:noFill/>
        <a:ln w="12700" cap="flat" cmpd="sng" algn="ctr">
          <a:no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53340" tIns="53340" rIns="53340" bIns="53340" numCol="1" spcCol="1270" anchor="ctr" anchorCtr="0">
          <a:noAutofit/>
        </a:bodyPr>
        <a:lstStyle/>
        <a:p>
          <a:pPr marL="0" lvl="0" indent="0" algn="r" defTabSz="622300" rtl="1">
            <a:lnSpc>
              <a:spcPct val="90000"/>
            </a:lnSpc>
            <a:spcBef>
              <a:spcPct val="0"/>
            </a:spcBef>
            <a:spcAft>
              <a:spcPct val="35000"/>
            </a:spcAft>
            <a:buNone/>
          </a:pPr>
          <a:r>
            <a:rPr lang="he-IL" sz="1400" b="1" kern="1200" dirty="0"/>
            <a:t>מדדי תשתית ומבנה מתייחסים לצורת ההתארגנות וההיערכות של שירותי הבריאות, הרכבם ואופי כוח האדם המטפל וכן לנהלים ולמדיניות רפואית שנוקטים הארגון או מערכת הבריאות. הנחת היסוד שבבסיס מדידה זו היא שארגון בריאות בעל כמות ואיכות מספקת של משאבים חומריים ואנושיים מסוגל לספק שירותי בריאות איכותיים. לדוגמה, זמינותו של ציוד ומכשור הולם בבית חולים ורמת החינוך והניסיון של הצוות הרפואי</a:t>
          </a:r>
        </a:p>
      </dsp:txBody>
      <dsp:txXfrm>
        <a:off x="43864" y="4568060"/>
        <a:ext cx="10645373" cy="810832"/>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A06141-D5F5-41C8-97C5-A93FC32755E0}" type="datetimeFigureOut">
              <a:rPr lang="en-US" smtClean="0"/>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E68AF1-256F-403C-9D10-97E9DF140175}" type="slidenum">
              <a:rPr lang="en-US" smtClean="0"/>
              <a:t>‹#›</a:t>
            </a:fld>
            <a:endParaRPr lang="en-US"/>
          </a:p>
        </p:txBody>
      </p:sp>
    </p:spTree>
    <p:extLst>
      <p:ext uri="{BB962C8B-B14F-4D97-AF65-F5344CB8AC3E}">
        <p14:creationId xmlns:p14="http://schemas.microsoft.com/office/powerpoint/2010/main" val="372471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5"/>
          </p:nvPr>
        </p:nvSpPr>
        <p:spPr/>
        <p:txBody>
          <a:bodyPr/>
          <a:lstStyle/>
          <a:p>
            <a:fld id="{D7EEF9D2-CAB0-4F68-920F-91434D398F87}" type="slidenum">
              <a:rPr lang="he-IL" smtClean="0"/>
              <a:t>10</a:t>
            </a:fld>
            <a:endParaRPr lang="he-IL"/>
          </a:p>
        </p:txBody>
      </p:sp>
    </p:spTree>
    <p:extLst>
      <p:ext uri="{BB962C8B-B14F-4D97-AF65-F5344CB8AC3E}">
        <p14:creationId xmlns:p14="http://schemas.microsoft.com/office/powerpoint/2010/main" val="1054891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928D5-2936-A64A-52F9-C74E5DA220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A8F31E-8602-BDC2-3CBA-1AF72BBB92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9245A8-0C99-677C-162A-A822E1DF7ABB}"/>
              </a:ext>
            </a:extLst>
          </p:cNvPr>
          <p:cNvSpPr>
            <a:spLocks noGrp="1"/>
          </p:cNvSpPr>
          <p:nvPr>
            <p:ph type="dt" sz="half" idx="10"/>
          </p:nvPr>
        </p:nvSpPr>
        <p:spPr/>
        <p:txBody>
          <a:bodyPr/>
          <a:lstStyle/>
          <a:p>
            <a:fld id="{62FF1883-0F49-4692-A902-3D6F5620C874}" type="datetimeFigureOut">
              <a:rPr lang="en-US" smtClean="0"/>
              <a:t>6/17/2026</a:t>
            </a:fld>
            <a:endParaRPr lang="en-US"/>
          </a:p>
        </p:txBody>
      </p:sp>
      <p:sp>
        <p:nvSpPr>
          <p:cNvPr id="5" name="Footer Placeholder 4">
            <a:extLst>
              <a:ext uri="{FF2B5EF4-FFF2-40B4-BE49-F238E27FC236}">
                <a16:creationId xmlns:a16="http://schemas.microsoft.com/office/drawing/2014/main" id="{6430731F-84E8-6306-7F1C-A2C14D2001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CFFE56-BAB6-2BD9-F4BB-BD9F510AE389}"/>
              </a:ext>
            </a:extLst>
          </p:cNvPr>
          <p:cNvSpPr>
            <a:spLocks noGrp="1"/>
          </p:cNvSpPr>
          <p:nvPr>
            <p:ph type="sldNum" sz="quarter" idx="12"/>
          </p:nvPr>
        </p:nvSpPr>
        <p:spPr/>
        <p:txBody>
          <a:bodyPr/>
          <a:lstStyle/>
          <a:p>
            <a:fld id="{5EB610DA-DCD7-493C-A3D9-4037EDF24514}" type="slidenum">
              <a:rPr lang="en-US" smtClean="0"/>
              <a:t>‹#›</a:t>
            </a:fld>
            <a:endParaRPr lang="en-US"/>
          </a:p>
        </p:txBody>
      </p:sp>
    </p:spTree>
    <p:extLst>
      <p:ext uri="{BB962C8B-B14F-4D97-AF65-F5344CB8AC3E}">
        <p14:creationId xmlns:p14="http://schemas.microsoft.com/office/powerpoint/2010/main" val="3838547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CB6CA-AF33-8FB8-3B79-8BDA6A694D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2CFB7E-AAE2-8E52-5211-8E29283DAC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088F88-CC38-E63D-206B-FC7B3519C830}"/>
              </a:ext>
            </a:extLst>
          </p:cNvPr>
          <p:cNvSpPr>
            <a:spLocks noGrp="1"/>
          </p:cNvSpPr>
          <p:nvPr>
            <p:ph type="dt" sz="half" idx="10"/>
          </p:nvPr>
        </p:nvSpPr>
        <p:spPr/>
        <p:txBody>
          <a:bodyPr/>
          <a:lstStyle/>
          <a:p>
            <a:fld id="{62FF1883-0F49-4692-A902-3D6F5620C874}" type="datetimeFigureOut">
              <a:rPr lang="en-US" smtClean="0"/>
              <a:t>6/17/2026</a:t>
            </a:fld>
            <a:endParaRPr lang="en-US"/>
          </a:p>
        </p:txBody>
      </p:sp>
      <p:sp>
        <p:nvSpPr>
          <p:cNvPr id="5" name="Footer Placeholder 4">
            <a:extLst>
              <a:ext uri="{FF2B5EF4-FFF2-40B4-BE49-F238E27FC236}">
                <a16:creationId xmlns:a16="http://schemas.microsoft.com/office/drawing/2014/main" id="{C3884264-102F-F91B-8FEE-246246D74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E0B4F8-DEF0-AF5A-F994-8E12A8B4A270}"/>
              </a:ext>
            </a:extLst>
          </p:cNvPr>
          <p:cNvSpPr>
            <a:spLocks noGrp="1"/>
          </p:cNvSpPr>
          <p:nvPr>
            <p:ph type="sldNum" sz="quarter" idx="12"/>
          </p:nvPr>
        </p:nvSpPr>
        <p:spPr/>
        <p:txBody>
          <a:bodyPr/>
          <a:lstStyle/>
          <a:p>
            <a:fld id="{5EB610DA-DCD7-493C-A3D9-4037EDF24514}" type="slidenum">
              <a:rPr lang="en-US" smtClean="0"/>
              <a:t>‹#›</a:t>
            </a:fld>
            <a:endParaRPr lang="en-US"/>
          </a:p>
        </p:txBody>
      </p:sp>
    </p:spTree>
    <p:extLst>
      <p:ext uri="{BB962C8B-B14F-4D97-AF65-F5344CB8AC3E}">
        <p14:creationId xmlns:p14="http://schemas.microsoft.com/office/powerpoint/2010/main" val="49655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26F9C-3B14-3FCD-FF13-AE87AD88B3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C578C4-DDDA-B44A-741D-8791C67551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0FBF34-8874-1316-2E7E-285BFA7D9A6D}"/>
              </a:ext>
            </a:extLst>
          </p:cNvPr>
          <p:cNvSpPr>
            <a:spLocks noGrp="1"/>
          </p:cNvSpPr>
          <p:nvPr>
            <p:ph type="dt" sz="half" idx="10"/>
          </p:nvPr>
        </p:nvSpPr>
        <p:spPr/>
        <p:txBody>
          <a:bodyPr/>
          <a:lstStyle/>
          <a:p>
            <a:fld id="{62FF1883-0F49-4692-A902-3D6F5620C874}" type="datetimeFigureOut">
              <a:rPr lang="en-US" smtClean="0"/>
              <a:t>6/17/2026</a:t>
            </a:fld>
            <a:endParaRPr lang="en-US"/>
          </a:p>
        </p:txBody>
      </p:sp>
      <p:sp>
        <p:nvSpPr>
          <p:cNvPr id="5" name="Footer Placeholder 4">
            <a:extLst>
              <a:ext uri="{FF2B5EF4-FFF2-40B4-BE49-F238E27FC236}">
                <a16:creationId xmlns:a16="http://schemas.microsoft.com/office/drawing/2014/main" id="{467AA4D6-D2BE-3910-C522-04DB5F02D2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EF8334-A007-B9B9-6CA5-98C341F15246}"/>
              </a:ext>
            </a:extLst>
          </p:cNvPr>
          <p:cNvSpPr>
            <a:spLocks noGrp="1"/>
          </p:cNvSpPr>
          <p:nvPr>
            <p:ph type="sldNum" sz="quarter" idx="12"/>
          </p:nvPr>
        </p:nvSpPr>
        <p:spPr/>
        <p:txBody>
          <a:bodyPr/>
          <a:lstStyle/>
          <a:p>
            <a:fld id="{5EB610DA-DCD7-493C-A3D9-4037EDF24514}" type="slidenum">
              <a:rPr lang="en-US" smtClean="0"/>
              <a:t>‹#›</a:t>
            </a:fld>
            <a:endParaRPr lang="en-US"/>
          </a:p>
        </p:txBody>
      </p:sp>
    </p:spTree>
    <p:extLst>
      <p:ext uri="{BB962C8B-B14F-4D97-AF65-F5344CB8AC3E}">
        <p14:creationId xmlns:p14="http://schemas.microsoft.com/office/powerpoint/2010/main" val="572968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D221B-F151-9F5A-9DF5-A94C13F7F9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57F025-1136-373A-39CC-1BEC97271B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499210-7938-5A9A-D9C8-EAB4D3BF41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4BAD63-CEE4-873D-5E18-0ED832346140}"/>
              </a:ext>
            </a:extLst>
          </p:cNvPr>
          <p:cNvSpPr>
            <a:spLocks noGrp="1"/>
          </p:cNvSpPr>
          <p:nvPr>
            <p:ph type="dt" sz="half" idx="10"/>
          </p:nvPr>
        </p:nvSpPr>
        <p:spPr/>
        <p:txBody>
          <a:bodyPr/>
          <a:lstStyle/>
          <a:p>
            <a:fld id="{62FF1883-0F49-4692-A902-3D6F5620C874}" type="datetimeFigureOut">
              <a:rPr lang="en-US" smtClean="0"/>
              <a:t>6/17/2026</a:t>
            </a:fld>
            <a:endParaRPr lang="en-US"/>
          </a:p>
        </p:txBody>
      </p:sp>
      <p:sp>
        <p:nvSpPr>
          <p:cNvPr id="6" name="Footer Placeholder 5">
            <a:extLst>
              <a:ext uri="{FF2B5EF4-FFF2-40B4-BE49-F238E27FC236}">
                <a16:creationId xmlns:a16="http://schemas.microsoft.com/office/drawing/2014/main" id="{37686362-6A74-A510-3DD0-F460D402C5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36474A-CB53-E2A0-5689-9D883D41A716}"/>
              </a:ext>
            </a:extLst>
          </p:cNvPr>
          <p:cNvSpPr>
            <a:spLocks noGrp="1"/>
          </p:cNvSpPr>
          <p:nvPr>
            <p:ph type="sldNum" sz="quarter" idx="12"/>
          </p:nvPr>
        </p:nvSpPr>
        <p:spPr/>
        <p:txBody>
          <a:bodyPr/>
          <a:lstStyle/>
          <a:p>
            <a:fld id="{5EB610DA-DCD7-493C-A3D9-4037EDF24514}" type="slidenum">
              <a:rPr lang="en-US" smtClean="0"/>
              <a:t>‹#›</a:t>
            </a:fld>
            <a:endParaRPr lang="en-US"/>
          </a:p>
        </p:txBody>
      </p:sp>
    </p:spTree>
    <p:extLst>
      <p:ext uri="{BB962C8B-B14F-4D97-AF65-F5344CB8AC3E}">
        <p14:creationId xmlns:p14="http://schemas.microsoft.com/office/powerpoint/2010/main" val="1599148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7180C-6401-DAF5-8223-E8EEC791DE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7F8D2A6-3C04-1156-8FBA-7710880FE0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6BD926-FF0B-47B8-A37A-CD0AF13B21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B519EB-EF42-DC08-D334-43BF7003C7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5D1233-2D30-651C-86B7-B0B6CFE875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C21C05C-77EF-4E83-E32D-CF6D008F4C0F}"/>
              </a:ext>
            </a:extLst>
          </p:cNvPr>
          <p:cNvSpPr>
            <a:spLocks noGrp="1"/>
          </p:cNvSpPr>
          <p:nvPr>
            <p:ph type="dt" sz="half" idx="10"/>
          </p:nvPr>
        </p:nvSpPr>
        <p:spPr/>
        <p:txBody>
          <a:bodyPr/>
          <a:lstStyle/>
          <a:p>
            <a:fld id="{62FF1883-0F49-4692-A902-3D6F5620C874}" type="datetimeFigureOut">
              <a:rPr lang="en-US" smtClean="0"/>
              <a:t>6/17/2026</a:t>
            </a:fld>
            <a:endParaRPr lang="en-US"/>
          </a:p>
        </p:txBody>
      </p:sp>
      <p:sp>
        <p:nvSpPr>
          <p:cNvPr id="8" name="Footer Placeholder 7">
            <a:extLst>
              <a:ext uri="{FF2B5EF4-FFF2-40B4-BE49-F238E27FC236}">
                <a16:creationId xmlns:a16="http://schemas.microsoft.com/office/drawing/2014/main" id="{6FE95C6C-DEE5-6881-A150-61BAB4E3BF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9F90B0-D5DD-0216-0AB1-F932ECED7920}"/>
              </a:ext>
            </a:extLst>
          </p:cNvPr>
          <p:cNvSpPr>
            <a:spLocks noGrp="1"/>
          </p:cNvSpPr>
          <p:nvPr>
            <p:ph type="sldNum" sz="quarter" idx="12"/>
          </p:nvPr>
        </p:nvSpPr>
        <p:spPr/>
        <p:txBody>
          <a:bodyPr/>
          <a:lstStyle/>
          <a:p>
            <a:fld id="{5EB610DA-DCD7-493C-A3D9-4037EDF24514}" type="slidenum">
              <a:rPr lang="en-US" smtClean="0"/>
              <a:t>‹#›</a:t>
            </a:fld>
            <a:endParaRPr lang="en-US"/>
          </a:p>
        </p:txBody>
      </p:sp>
    </p:spTree>
    <p:extLst>
      <p:ext uri="{BB962C8B-B14F-4D97-AF65-F5344CB8AC3E}">
        <p14:creationId xmlns:p14="http://schemas.microsoft.com/office/powerpoint/2010/main" val="3518778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FE186-F981-640A-835C-68C19381C0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3ACDB9-5AAE-4AEF-A3B2-D315936614DB}"/>
              </a:ext>
            </a:extLst>
          </p:cNvPr>
          <p:cNvSpPr>
            <a:spLocks noGrp="1"/>
          </p:cNvSpPr>
          <p:nvPr>
            <p:ph type="dt" sz="half" idx="10"/>
          </p:nvPr>
        </p:nvSpPr>
        <p:spPr/>
        <p:txBody>
          <a:bodyPr/>
          <a:lstStyle/>
          <a:p>
            <a:fld id="{62FF1883-0F49-4692-A902-3D6F5620C874}" type="datetimeFigureOut">
              <a:rPr lang="en-US" smtClean="0"/>
              <a:t>6/17/2026</a:t>
            </a:fld>
            <a:endParaRPr lang="en-US"/>
          </a:p>
        </p:txBody>
      </p:sp>
      <p:sp>
        <p:nvSpPr>
          <p:cNvPr id="4" name="Footer Placeholder 3">
            <a:extLst>
              <a:ext uri="{FF2B5EF4-FFF2-40B4-BE49-F238E27FC236}">
                <a16:creationId xmlns:a16="http://schemas.microsoft.com/office/drawing/2014/main" id="{01E24C0D-727D-7C67-7C0B-80EC6B0BF4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B98702-E614-1D5B-35E1-F98100108A24}"/>
              </a:ext>
            </a:extLst>
          </p:cNvPr>
          <p:cNvSpPr>
            <a:spLocks noGrp="1"/>
          </p:cNvSpPr>
          <p:nvPr>
            <p:ph type="sldNum" sz="quarter" idx="12"/>
          </p:nvPr>
        </p:nvSpPr>
        <p:spPr/>
        <p:txBody>
          <a:bodyPr/>
          <a:lstStyle/>
          <a:p>
            <a:fld id="{5EB610DA-DCD7-493C-A3D9-4037EDF24514}" type="slidenum">
              <a:rPr lang="en-US" smtClean="0"/>
              <a:t>‹#›</a:t>
            </a:fld>
            <a:endParaRPr lang="en-US"/>
          </a:p>
        </p:txBody>
      </p:sp>
    </p:spTree>
    <p:extLst>
      <p:ext uri="{BB962C8B-B14F-4D97-AF65-F5344CB8AC3E}">
        <p14:creationId xmlns:p14="http://schemas.microsoft.com/office/powerpoint/2010/main" val="1095791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81763D-FBF1-B4C2-D77E-6BEE42470AF5}"/>
              </a:ext>
            </a:extLst>
          </p:cNvPr>
          <p:cNvSpPr>
            <a:spLocks noGrp="1"/>
          </p:cNvSpPr>
          <p:nvPr>
            <p:ph type="dt" sz="half" idx="10"/>
          </p:nvPr>
        </p:nvSpPr>
        <p:spPr/>
        <p:txBody>
          <a:bodyPr/>
          <a:lstStyle/>
          <a:p>
            <a:fld id="{62FF1883-0F49-4692-A902-3D6F5620C874}" type="datetimeFigureOut">
              <a:rPr lang="en-US" smtClean="0"/>
              <a:t>6/17/2026</a:t>
            </a:fld>
            <a:endParaRPr lang="en-US"/>
          </a:p>
        </p:txBody>
      </p:sp>
      <p:sp>
        <p:nvSpPr>
          <p:cNvPr id="3" name="Footer Placeholder 2">
            <a:extLst>
              <a:ext uri="{FF2B5EF4-FFF2-40B4-BE49-F238E27FC236}">
                <a16:creationId xmlns:a16="http://schemas.microsoft.com/office/drawing/2014/main" id="{2D9C95B5-20F0-BCF5-CA0F-8269211090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3F29AE-6EAF-9C90-E364-9B83441CB155}"/>
              </a:ext>
            </a:extLst>
          </p:cNvPr>
          <p:cNvSpPr>
            <a:spLocks noGrp="1"/>
          </p:cNvSpPr>
          <p:nvPr>
            <p:ph type="sldNum" sz="quarter" idx="12"/>
          </p:nvPr>
        </p:nvSpPr>
        <p:spPr/>
        <p:txBody>
          <a:bodyPr/>
          <a:lstStyle/>
          <a:p>
            <a:fld id="{5EB610DA-DCD7-493C-A3D9-4037EDF24514}" type="slidenum">
              <a:rPr lang="en-US" smtClean="0"/>
              <a:t>‹#›</a:t>
            </a:fld>
            <a:endParaRPr lang="en-US"/>
          </a:p>
        </p:txBody>
      </p:sp>
    </p:spTree>
    <p:extLst>
      <p:ext uri="{BB962C8B-B14F-4D97-AF65-F5344CB8AC3E}">
        <p14:creationId xmlns:p14="http://schemas.microsoft.com/office/powerpoint/2010/main" val="3822145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AE2B4-BD7C-E78B-7033-7CD049CB1C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92F2A8-7979-9719-A75D-2ADBB28B5B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D27277-29E1-CF3D-FACF-B80648D16E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699225-718B-8F4D-67BE-9595F578756A}"/>
              </a:ext>
            </a:extLst>
          </p:cNvPr>
          <p:cNvSpPr>
            <a:spLocks noGrp="1"/>
          </p:cNvSpPr>
          <p:nvPr>
            <p:ph type="dt" sz="half" idx="10"/>
          </p:nvPr>
        </p:nvSpPr>
        <p:spPr/>
        <p:txBody>
          <a:bodyPr/>
          <a:lstStyle/>
          <a:p>
            <a:fld id="{62FF1883-0F49-4692-A902-3D6F5620C874}" type="datetimeFigureOut">
              <a:rPr lang="en-US" smtClean="0"/>
              <a:t>6/17/2026</a:t>
            </a:fld>
            <a:endParaRPr lang="en-US"/>
          </a:p>
        </p:txBody>
      </p:sp>
      <p:sp>
        <p:nvSpPr>
          <p:cNvPr id="6" name="Footer Placeholder 5">
            <a:extLst>
              <a:ext uri="{FF2B5EF4-FFF2-40B4-BE49-F238E27FC236}">
                <a16:creationId xmlns:a16="http://schemas.microsoft.com/office/drawing/2014/main" id="{06589662-9444-6CE5-DDAC-1AD55CF3DF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A900BA-73AE-B1B8-F52E-39D24FE53733}"/>
              </a:ext>
            </a:extLst>
          </p:cNvPr>
          <p:cNvSpPr>
            <a:spLocks noGrp="1"/>
          </p:cNvSpPr>
          <p:nvPr>
            <p:ph type="sldNum" sz="quarter" idx="12"/>
          </p:nvPr>
        </p:nvSpPr>
        <p:spPr/>
        <p:txBody>
          <a:bodyPr/>
          <a:lstStyle/>
          <a:p>
            <a:fld id="{5EB610DA-DCD7-493C-A3D9-4037EDF24514}" type="slidenum">
              <a:rPr lang="en-US" smtClean="0"/>
              <a:t>‹#›</a:t>
            </a:fld>
            <a:endParaRPr lang="en-US"/>
          </a:p>
        </p:txBody>
      </p:sp>
    </p:spTree>
    <p:extLst>
      <p:ext uri="{BB962C8B-B14F-4D97-AF65-F5344CB8AC3E}">
        <p14:creationId xmlns:p14="http://schemas.microsoft.com/office/powerpoint/2010/main" val="745558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6A09D-3520-F780-8208-08E8A202D1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F8A183-4D27-DFA6-10EA-4A9E72CCA8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54325F-678B-60FF-0F6E-0DCD20C074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41A642-AC9C-7A7F-9017-082358899C6B}"/>
              </a:ext>
            </a:extLst>
          </p:cNvPr>
          <p:cNvSpPr>
            <a:spLocks noGrp="1"/>
          </p:cNvSpPr>
          <p:nvPr>
            <p:ph type="dt" sz="half" idx="10"/>
          </p:nvPr>
        </p:nvSpPr>
        <p:spPr/>
        <p:txBody>
          <a:bodyPr/>
          <a:lstStyle/>
          <a:p>
            <a:fld id="{62FF1883-0F49-4692-A902-3D6F5620C874}" type="datetimeFigureOut">
              <a:rPr lang="en-US" smtClean="0"/>
              <a:t>6/17/2026</a:t>
            </a:fld>
            <a:endParaRPr lang="en-US"/>
          </a:p>
        </p:txBody>
      </p:sp>
      <p:sp>
        <p:nvSpPr>
          <p:cNvPr id="6" name="Footer Placeholder 5">
            <a:extLst>
              <a:ext uri="{FF2B5EF4-FFF2-40B4-BE49-F238E27FC236}">
                <a16:creationId xmlns:a16="http://schemas.microsoft.com/office/drawing/2014/main" id="{2B1E44B5-CEB1-168E-74A9-7F0D984951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AAFEF6-B688-3FC6-4AD2-383AF03FECED}"/>
              </a:ext>
            </a:extLst>
          </p:cNvPr>
          <p:cNvSpPr>
            <a:spLocks noGrp="1"/>
          </p:cNvSpPr>
          <p:nvPr>
            <p:ph type="sldNum" sz="quarter" idx="12"/>
          </p:nvPr>
        </p:nvSpPr>
        <p:spPr/>
        <p:txBody>
          <a:bodyPr/>
          <a:lstStyle/>
          <a:p>
            <a:fld id="{5EB610DA-DCD7-493C-A3D9-4037EDF24514}" type="slidenum">
              <a:rPr lang="en-US" smtClean="0"/>
              <a:t>‹#›</a:t>
            </a:fld>
            <a:endParaRPr lang="en-US"/>
          </a:p>
        </p:txBody>
      </p:sp>
    </p:spTree>
    <p:extLst>
      <p:ext uri="{BB962C8B-B14F-4D97-AF65-F5344CB8AC3E}">
        <p14:creationId xmlns:p14="http://schemas.microsoft.com/office/powerpoint/2010/main" val="1688079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BE9E6-E420-CC90-DB7B-6D1C5E63D7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8BCD1E-4BBC-09E1-313B-FDF2DB5EF4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42E791-AC33-E75D-D232-1F2D4D452193}"/>
              </a:ext>
            </a:extLst>
          </p:cNvPr>
          <p:cNvSpPr>
            <a:spLocks noGrp="1"/>
          </p:cNvSpPr>
          <p:nvPr>
            <p:ph type="dt" sz="half" idx="10"/>
          </p:nvPr>
        </p:nvSpPr>
        <p:spPr/>
        <p:txBody>
          <a:bodyPr/>
          <a:lstStyle/>
          <a:p>
            <a:fld id="{62FF1883-0F49-4692-A902-3D6F5620C874}" type="datetimeFigureOut">
              <a:rPr lang="en-US" smtClean="0"/>
              <a:t>6/17/2026</a:t>
            </a:fld>
            <a:endParaRPr lang="en-US"/>
          </a:p>
        </p:txBody>
      </p:sp>
      <p:sp>
        <p:nvSpPr>
          <p:cNvPr id="5" name="Footer Placeholder 4">
            <a:extLst>
              <a:ext uri="{FF2B5EF4-FFF2-40B4-BE49-F238E27FC236}">
                <a16:creationId xmlns:a16="http://schemas.microsoft.com/office/drawing/2014/main" id="{223CEFED-D277-56CE-BC89-0975044048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1E633-D1C9-166D-40C4-1B0EA416D663}"/>
              </a:ext>
            </a:extLst>
          </p:cNvPr>
          <p:cNvSpPr>
            <a:spLocks noGrp="1"/>
          </p:cNvSpPr>
          <p:nvPr>
            <p:ph type="sldNum" sz="quarter" idx="12"/>
          </p:nvPr>
        </p:nvSpPr>
        <p:spPr/>
        <p:txBody>
          <a:bodyPr/>
          <a:lstStyle/>
          <a:p>
            <a:fld id="{5EB610DA-DCD7-493C-A3D9-4037EDF24514}" type="slidenum">
              <a:rPr lang="en-US" smtClean="0"/>
              <a:t>‹#›</a:t>
            </a:fld>
            <a:endParaRPr lang="en-US"/>
          </a:p>
        </p:txBody>
      </p:sp>
    </p:spTree>
    <p:extLst>
      <p:ext uri="{BB962C8B-B14F-4D97-AF65-F5344CB8AC3E}">
        <p14:creationId xmlns:p14="http://schemas.microsoft.com/office/powerpoint/2010/main" val="2366168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30D334-3CF5-36F2-85E1-689CB476F5C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EE283E-66AA-9719-14A8-BF284D0018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8B4F43-71BE-C0DD-B7A7-5DF25F0F1C64}"/>
              </a:ext>
            </a:extLst>
          </p:cNvPr>
          <p:cNvSpPr>
            <a:spLocks noGrp="1"/>
          </p:cNvSpPr>
          <p:nvPr>
            <p:ph type="dt" sz="half" idx="10"/>
          </p:nvPr>
        </p:nvSpPr>
        <p:spPr/>
        <p:txBody>
          <a:bodyPr/>
          <a:lstStyle/>
          <a:p>
            <a:fld id="{62FF1883-0F49-4692-A902-3D6F5620C874}" type="datetimeFigureOut">
              <a:rPr lang="en-US" smtClean="0"/>
              <a:t>6/17/2026</a:t>
            </a:fld>
            <a:endParaRPr lang="en-US"/>
          </a:p>
        </p:txBody>
      </p:sp>
      <p:sp>
        <p:nvSpPr>
          <p:cNvPr id="5" name="Footer Placeholder 4">
            <a:extLst>
              <a:ext uri="{FF2B5EF4-FFF2-40B4-BE49-F238E27FC236}">
                <a16:creationId xmlns:a16="http://schemas.microsoft.com/office/drawing/2014/main" id="{D3CD1A9B-2987-1B17-F129-967AC5DE7E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446CF5-24D5-00EE-E4B3-E3EC4179F268}"/>
              </a:ext>
            </a:extLst>
          </p:cNvPr>
          <p:cNvSpPr>
            <a:spLocks noGrp="1"/>
          </p:cNvSpPr>
          <p:nvPr>
            <p:ph type="sldNum" sz="quarter" idx="12"/>
          </p:nvPr>
        </p:nvSpPr>
        <p:spPr/>
        <p:txBody>
          <a:bodyPr/>
          <a:lstStyle/>
          <a:p>
            <a:fld id="{5EB610DA-DCD7-493C-A3D9-4037EDF24514}" type="slidenum">
              <a:rPr lang="en-US" smtClean="0"/>
              <a:t>‹#›</a:t>
            </a:fld>
            <a:endParaRPr lang="en-US"/>
          </a:p>
        </p:txBody>
      </p:sp>
    </p:spTree>
    <p:extLst>
      <p:ext uri="{BB962C8B-B14F-4D97-AF65-F5344CB8AC3E}">
        <p14:creationId xmlns:p14="http://schemas.microsoft.com/office/powerpoint/2010/main" val="35216389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כותרת ותוכן">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F2A0AD9-EF52-4CC3-80DA-8612ADA7ACF6}" type="datetime1">
              <a:rPr lang="en-US" smtClean="0"/>
              <a:t>6/17/2026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772206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ADBA02-30B8-ABB9-DEE8-5EE0501A92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B333A1-06EC-019D-7422-8238E31F50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663019-2837-0DE7-9313-033C138A01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FF1883-0F49-4692-A902-3D6F5620C874}" type="datetimeFigureOut">
              <a:rPr lang="en-US" smtClean="0"/>
              <a:t>6/17/2026</a:t>
            </a:fld>
            <a:endParaRPr lang="en-US"/>
          </a:p>
        </p:txBody>
      </p:sp>
      <p:sp>
        <p:nvSpPr>
          <p:cNvPr id="5" name="Footer Placeholder 4">
            <a:extLst>
              <a:ext uri="{FF2B5EF4-FFF2-40B4-BE49-F238E27FC236}">
                <a16:creationId xmlns:a16="http://schemas.microsoft.com/office/drawing/2014/main" id="{306634A3-4A7B-661E-3370-3333C24CD2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5F2B214-E781-BD37-C58D-F56107134E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B610DA-DCD7-493C-A3D9-4037EDF24514}" type="slidenum">
              <a:rPr lang="en-US" smtClean="0"/>
              <a:t>‹#›</a:t>
            </a:fld>
            <a:endParaRPr lang="en-US"/>
          </a:p>
        </p:txBody>
      </p:sp>
    </p:spTree>
    <p:extLst>
      <p:ext uri="{BB962C8B-B14F-4D97-AF65-F5344CB8AC3E}">
        <p14:creationId xmlns:p14="http://schemas.microsoft.com/office/powerpoint/2010/main" val="25555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health.gov.il/download/ng/0_4_7.pdf" TargetMode="External"/><Relationship Id="rId2" Type="http://schemas.openxmlformats.org/officeDocument/2006/relationships/hyperlink" Target="https://www.gov.il/BlobFolder/dynamiccollectorresultitem/ng-0-4-7/he/files_circulars_ng_0_4_7.pdf" TargetMode="External"/><Relationship Id="rId1" Type="http://schemas.openxmlformats.org/officeDocument/2006/relationships/slideLayout" Target="../slideLayouts/slideLayout1.xml"/><Relationship Id="rId4" Type="http://schemas.openxmlformats.org/officeDocument/2006/relationships/hyperlink" Target="https://www.gov.il/he/pages/hp-geriatric-regulations"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020E30D-D5C0-8D4B-0A99-E84B750ABF1F}"/>
              </a:ext>
            </a:extLst>
          </p:cNvPr>
          <p:cNvSpPr>
            <a:spLocks noGrp="1"/>
          </p:cNvSpPr>
          <p:nvPr>
            <p:ph type="subTitle" idx="1"/>
          </p:nvPr>
        </p:nvSpPr>
        <p:spPr/>
        <p:txBody>
          <a:bodyPr/>
          <a:lstStyle/>
          <a:p>
            <a:pPr rtl="1"/>
            <a:r>
              <a:rPr lang="he-IL" dirty="0">
                <a:hlinkClick r:id="rId2"/>
              </a:rPr>
              <a:t>קישור לנוהל רוחבי אגף הגריאטריה . איך כותבים נוהל?</a:t>
            </a:r>
            <a:endParaRPr lang="en-US" dirty="0"/>
          </a:p>
        </p:txBody>
      </p:sp>
      <p:sp>
        <p:nvSpPr>
          <p:cNvPr id="4" name="TextBox 3">
            <a:extLst>
              <a:ext uri="{FF2B5EF4-FFF2-40B4-BE49-F238E27FC236}">
                <a16:creationId xmlns:a16="http://schemas.microsoft.com/office/drawing/2014/main" id="{B12586AB-CF9E-28EA-B048-8EF5DCF0863B}"/>
              </a:ext>
            </a:extLst>
          </p:cNvPr>
          <p:cNvSpPr txBox="1"/>
          <p:nvPr/>
        </p:nvSpPr>
        <p:spPr>
          <a:xfrm>
            <a:off x="5031971" y="1277034"/>
            <a:ext cx="6228184" cy="646331"/>
          </a:xfrm>
          <a:prstGeom prst="rect">
            <a:avLst/>
          </a:prstGeom>
          <a:noFill/>
        </p:spPr>
        <p:txBody>
          <a:bodyPr wrap="square">
            <a:spAutoFit/>
          </a:bodyPr>
          <a:lstStyle/>
          <a:p>
            <a:pPr algn="r" rtl="1"/>
            <a:r>
              <a:rPr lang="he-IL" dirty="0"/>
              <a:t>נהלים פנימיים מוסדיים בבי"ח גריאטרי</a:t>
            </a:r>
            <a:endParaRPr lang="he-IL" dirty="0">
              <a:hlinkClick r:id="rId3"/>
            </a:endParaRPr>
          </a:p>
          <a:p>
            <a:pPr algn="r" rtl="1"/>
            <a:r>
              <a:rPr lang="he-IL" dirty="0">
                <a:hlinkClick r:id="rId4"/>
              </a:rPr>
              <a:t>קישור</a:t>
            </a:r>
            <a:endParaRPr lang="en-US" dirty="0"/>
          </a:p>
        </p:txBody>
      </p:sp>
    </p:spTree>
    <p:extLst>
      <p:ext uri="{BB962C8B-B14F-4D97-AF65-F5344CB8AC3E}">
        <p14:creationId xmlns:p14="http://schemas.microsoft.com/office/powerpoint/2010/main" val="1719615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כותרת 1">
            <a:extLst>
              <a:ext uri="{FF2B5EF4-FFF2-40B4-BE49-F238E27FC236}">
                <a16:creationId xmlns:a16="http://schemas.microsoft.com/office/drawing/2014/main" id="{47B91ED6-FACA-463C-5933-981BC9B04EE8}"/>
              </a:ext>
            </a:extLst>
          </p:cNvPr>
          <p:cNvSpPr>
            <a:spLocks noGrp="1" noChangeArrowheads="1"/>
          </p:cNvSpPr>
          <p:nvPr>
            <p:ph type="title"/>
          </p:nvPr>
        </p:nvSpPr>
        <p:spPr>
          <a:xfrm>
            <a:off x="1487488" y="260649"/>
            <a:ext cx="8856984" cy="1309777"/>
          </a:xfrm>
        </p:spPr>
        <p:txBody>
          <a:bodyPr anchor="ctr">
            <a:normAutofit fontScale="90000"/>
          </a:bodyPr>
          <a:lstStyle/>
          <a:p>
            <a:pPr marL="342900" indent="-342900" algn="r" rtl="1">
              <a:spcBef>
                <a:spcPts val="0"/>
              </a:spcBef>
              <a:buSzPts val="3600"/>
              <a:buBlip>
                <a:blip r:embed="rId2"/>
              </a:buBlip>
            </a:pPr>
            <a:r>
              <a:rPr lang="he-IL" sz="3100" b="1" i="1" dirty="0">
                <a:latin typeface="Arial" panose="020B0604020202020204" pitchFamily="34" charset="0"/>
                <a:cs typeface="David" panose="020E0502060401010101" pitchFamily="34" charset="-79"/>
              </a:rPr>
              <a:t>להלן שתי שיטות/פורמט לבחירתכם ולשימושכם בכתיבת העבודה: </a:t>
            </a:r>
            <a:br>
              <a:rPr lang="en-US" sz="3100" b="1" i="1" dirty="0">
                <a:latin typeface="Arial" panose="020B0604020202020204" pitchFamily="34" charset="0"/>
                <a:cs typeface="David" panose="020E0502060401010101" pitchFamily="34" charset="-79"/>
              </a:rPr>
            </a:br>
            <a:r>
              <a:rPr lang="he-IL" sz="3100" b="1" i="1">
                <a:latin typeface="Arial" panose="020B0604020202020204" pitchFamily="34" charset="0"/>
                <a:cs typeface="David" panose="020E0502060401010101" pitchFamily="34" charset="-79"/>
              </a:rPr>
              <a:t>1. תוכנית </a:t>
            </a:r>
            <a:r>
              <a:rPr lang="he-IL" sz="3100" b="1" i="1" dirty="0">
                <a:latin typeface="Arial" panose="020B0604020202020204" pitchFamily="34" charset="0"/>
                <a:cs typeface="David" panose="020E0502060401010101" pitchFamily="34" charset="-79"/>
              </a:rPr>
              <a:t>עבודה לפי לימור עמירם (פורמט לדוגמה)</a:t>
            </a:r>
            <a:br>
              <a:rPr lang="en-US" sz="3100" b="1" i="1" dirty="0">
                <a:latin typeface="Arial" panose="020B0604020202020204" pitchFamily="34" charset="0"/>
                <a:cs typeface="David" panose="020E0502060401010101" pitchFamily="34" charset="-79"/>
              </a:rPr>
            </a:br>
            <a:r>
              <a:rPr lang="he-IL" sz="1800" b="1" i="1" dirty="0">
                <a:latin typeface="Arial" panose="020B0604020202020204" pitchFamily="34" charset="0"/>
                <a:ea typeface="Times New Roman" panose="02020603050405020304" pitchFamily="18" charset="0"/>
                <a:cs typeface="David" panose="020E0502060401010101" pitchFamily="34" charset="-79"/>
              </a:rPr>
              <a:t> </a:t>
            </a:r>
            <a:endParaRPr lang="en-US" sz="1800" dirty="0">
              <a:latin typeface="Times New Roman" panose="02020603050405020304" pitchFamily="18" charset="0"/>
              <a:ea typeface="Times New Roman" panose="02020603050405020304" pitchFamily="18" charset="0"/>
              <a:cs typeface="Miriam" panose="020B0502050101010101" pitchFamily="34" charset="-79"/>
            </a:endParaRPr>
          </a:p>
        </p:txBody>
      </p:sp>
      <p:sp>
        <p:nvSpPr>
          <p:cNvPr id="97312" name="מציין מיקום של מספר שקופית 2">
            <a:extLst>
              <a:ext uri="{FF2B5EF4-FFF2-40B4-BE49-F238E27FC236}">
                <a16:creationId xmlns:a16="http://schemas.microsoft.com/office/drawing/2014/main" id="{08F63DAD-9971-94B2-980F-EA74C96A10B2}"/>
              </a:ext>
            </a:extLst>
          </p:cNvPr>
          <p:cNvSpPr>
            <a:spLocks noGrp="1" noChangeArrowheads="1"/>
          </p:cNvSpPr>
          <p:nvPr>
            <p:ph type="sldNum" sz="quarter" idx="12"/>
          </p:nvPr>
        </p:nvSpPr>
        <p:spPr>
          <a:xfrm>
            <a:off x="10302240" y="6455665"/>
            <a:ext cx="336042"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gn="r" rtl="1">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rtl="0">
              <a:spcBef>
                <a:spcPct val="0"/>
              </a:spcBef>
              <a:spcAft>
                <a:spcPts val="600"/>
              </a:spcAft>
              <a:buClrTx/>
              <a:buSzTx/>
              <a:buNone/>
            </a:pPr>
            <a:fld id="{FB1CB571-9C7B-45FE-B349-15D1E7731602}" type="slidenum">
              <a:rPr lang="he-IL" altLang="he-IL" sz="1000">
                <a:solidFill>
                  <a:schemeClr val="tx1">
                    <a:lumMod val="50000"/>
                    <a:lumOff val="50000"/>
                  </a:schemeClr>
                </a:solidFill>
              </a:rPr>
              <a:pPr rtl="0">
                <a:spcBef>
                  <a:spcPct val="0"/>
                </a:spcBef>
                <a:spcAft>
                  <a:spcPts val="600"/>
                </a:spcAft>
                <a:buClrTx/>
                <a:buSzTx/>
                <a:buNone/>
              </a:pPr>
              <a:t>5</a:t>
            </a:fld>
            <a:endParaRPr lang="en-US" altLang="he-IL" sz="1000">
              <a:solidFill>
                <a:schemeClr val="tx1">
                  <a:lumMod val="50000"/>
                  <a:lumOff val="50000"/>
                </a:schemeClr>
              </a:solidFill>
            </a:endParaRPr>
          </a:p>
        </p:txBody>
      </p:sp>
      <p:graphicFrame>
        <p:nvGraphicFramePr>
          <p:cNvPr id="4" name="מציין מיקום תוכן 3">
            <a:extLst>
              <a:ext uri="{FF2B5EF4-FFF2-40B4-BE49-F238E27FC236}">
                <a16:creationId xmlns:a16="http://schemas.microsoft.com/office/drawing/2014/main" id="{9D100C80-9D1D-383A-4CF1-ACCEDC9362D2}"/>
              </a:ext>
            </a:extLst>
          </p:cNvPr>
          <p:cNvGraphicFramePr>
            <a:graphicFrameLocks noGrp="1"/>
          </p:cNvGraphicFramePr>
          <p:nvPr>
            <p:ph idx="1"/>
          </p:nvPr>
        </p:nvGraphicFramePr>
        <p:xfrm>
          <a:off x="2007038" y="1772816"/>
          <a:ext cx="8295202" cy="4655376"/>
        </p:xfrm>
        <a:graphic>
          <a:graphicData uri="http://schemas.openxmlformats.org/drawingml/2006/table">
            <a:tbl>
              <a:tblPr rtl="1" firstRow="1" bandRow="1">
                <a:tableStyleId>{5C22544A-7EE6-4342-B048-85BDC9FD1C3A}</a:tableStyleId>
              </a:tblPr>
              <a:tblGrid>
                <a:gridCol w="856298">
                  <a:extLst>
                    <a:ext uri="{9D8B030D-6E8A-4147-A177-3AD203B41FA5}">
                      <a16:colId xmlns:a16="http://schemas.microsoft.com/office/drawing/2014/main" val="20000"/>
                    </a:ext>
                  </a:extLst>
                </a:gridCol>
                <a:gridCol w="1605216">
                  <a:extLst>
                    <a:ext uri="{9D8B030D-6E8A-4147-A177-3AD203B41FA5}">
                      <a16:colId xmlns:a16="http://schemas.microsoft.com/office/drawing/2014/main" val="20001"/>
                    </a:ext>
                  </a:extLst>
                </a:gridCol>
                <a:gridCol w="1227443">
                  <a:extLst>
                    <a:ext uri="{9D8B030D-6E8A-4147-A177-3AD203B41FA5}">
                      <a16:colId xmlns:a16="http://schemas.microsoft.com/office/drawing/2014/main" val="20002"/>
                    </a:ext>
                  </a:extLst>
                </a:gridCol>
                <a:gridCol w="833102">
                  <a:extLst>
                    <a:ext uri="{9D8B030D-6E8A-4147-A177-3AD203B41FA5}">
                      <a16:colId xmlns:a16="http://schemas.microsoft.com/office/drawing/2014/main" val="20003"/>
                    </a:ext>
                  </a:extLst>
                </a:gridCol>
                <a:gridCol w="889437">
                  <a:extLst>
                    <a:ext uri="{9D8B030D-6E8A-4147-A177-3AD203B41FA5}">
                      <a16:colId xmlns:a16="http://schemas.microsoft.com/office/drawing/2014/main" val="20004"/>
                    </a:ext>
                  </a:extLst>
                </a:gridCol>
                <a:gridCol w="1078323">
                  <a:extLst>
                    <a:ext uri="{9D8B030D-6E8A-4147-A177-3AD203B41FA5}">
                      <a16:colId xmlns:a16="http://schemas.microsoft.com/office/drawing/2014/main" val="20005"/>
                    </a:ext>
                  </a:extLst>
                </a:gridCol>
                <a:gridCol w="746943">
                  <a:extLst>
                    <a:ext uri="{9D8B030D-6E8A-4147-A177-3AD203B41FA5}">
                      <a16:colId xmlns:a16="http://schemas.microsoft.com/office/drawing/2014/main" val="20006"/>
                    </a:ext>
                  </a:extLst>
                </a:gridCol>
                <a:gridCol w="1058440">
                  <a:extLst>
                    <a:ext uri="{9D8B030D-6E8A-4147-A177-3AD203B41FA5}">
                      <a16:colId xmlns:a16="http://schemas.microsoft.com/office/drawing/2014/main" val="20007"/>
                    </a:ext>
                  </a:extLst>
                </a:gridCol>
              </a:tblGrid>
              <a:tr h="675019">
                <a:tc>
                  <a:txBody>
                    <a:bodyPr/>
                    <a:lstStyle/>
                    <a:p>
                      <a:pPr algn="ctr" rtl="1">
                        <a:spcAft>
                          <a:spcPts val="0"/>
                        </a:spcAft>
                        <a:tabLst>
                          <a:tab pos="2637155" algn="ctr"/>
                          <a:tab pos="5274310" algn="r"/>
                          <a:tab pos="457200" algn="l"/>
                        </a:tabLst>
                      </a:pPr>
                      <a:r>
                        <a:rPr lang="he-IL" sz="1400" b="1" dirty="0">
                          <a:effectLst/>
                        </a:rPr>
                        <a:t>המטרה</a:t>
                      </a:r>
                      <a:endParaRPr lang="en-US" sz="1400" b="1" dirty="0">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tc>
                  <a:txBody>
                    <a:bodyPr/>
                    <a:lstStyle/>
                    <a:p>
                      <a:pPr algn="ctr" rtl="1">
                        <a:spcAft>
                          <a:spcPts val="0"/>
                        </a:spcAft>
                        <a:tabLst>
                          <a:tab pos="2637155" algn="ctr"/>
                          <a:tab pos="5274310" algn="r"/>
                          <a:tab pos="457200" algn="l"/>
                        </a:tabLst>
                      </a:pPr>
                      <a:r>
                        <a:rPr lang="he-IL" sz="1400" b="1" dirty="0">
                          <a:effectLst/>
                        </a:rPr>
                        <a:t>יעדים</a:t>
                      </a:r>
                      <a:endParaRPr lang="en-US" sz="1400" b="1" dirty="0">
                        <a:effectLst/>
                      </a:endParaRPr>
                    </a:p>
                    <a:p>
                      <a:pPr algn="ctr" rtl="1">
                        <a:spcAft>
                          <a:spcPts val="0"/>
                        </a:spcAft>
                        <a:tabLst>
                          <a:tab pos="2637155" algn="ctr"/>
                          <a:tab pos="5274310" algn="r"/>
                          <a:tab pos="457200" algn="l"/>
                        </a:tabLst>
                      </a:pPr>
                      <a:r>
                        <a:rPr lang="he-IL" sz="1400" b="1" dirty="0">
                          <a:effectLst/>
                        </a:rPr>
                        <a:t> </a:t>
                      </a:r>
                      <a:endParaRPr lang="en-US" sz="1400" b="1" dirty="0">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tc>
                  <a:txBody>
                    <a:bodyPr/>
                    <a:lstStyle/>
                    <a:p>
                      <a:pPr algn="ctr" rtl="1">
                        <a:spcAft>
                          <a:spcPts val="0"/>
                        </a:spcAft>
                        <a:tabLst>
                          <a:tab pos="2637155" algn="ctr"/>
                          <a:tab pos="5274310" algn="r"/>
                          <a:tab pos="457200" algn="l"/>
                        </a:tabLst>
                      </a:pPr>
                      <a:r>
                        <a:rPr lang="he-IL" sz="1400" b="1" dirty="0">
                          <a:effectLst/>
                        </a:rPr>
                        <a:t>משימה/ פעולות לביצוע לצורך השגת המטרה</a:t>
                      </a:r>
                      <a:endParaRPr lang="en-US" sz="1400" b="1" dirty="0">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tc>
                  <a:txBody>
                    <a:bodyPr/>
                    <a:lstStyle/>
                    <a:p>
                      <a:pPr algn="ctr" rtl="1">
                        <a:spcAft>
                          <a:spcPts val="0"/>
                        </a:spcAft>
                        <a:tabLst>
                          <a:tab pos="2637155" algn="ctr"/>
                          <a:tab pos="5274310" algn="r"/>
                          <a:tab pos="457200" algn="l"/>
                        </a:tabLst>
                      </a:pPr>
                      <a:r>
                        <a:rPr lang="he-IL" sz="1400" b="1">
                          <a:effectLst/>
                        </a:rPr>
                        <a:t>תשומות נדרשות</a:t>
                      </a:r>
                      <a:endParaRPr lang="en-US" sz="1400" b="1">
                        <a:effectLst/>
                      </a:endParaRPr>
                    </a:p>
                    <a:p>
                      <a:pPr algn="ctr" rtl="1">
                        <a:spcAft>
                          <a:spcPts val="0"/>
                        </a:spcAft>
                        <a:tabLst>
                          <a:tab pos="2637155" algn="ctr"/>
                          <a:tab pos="5274310" algn="r"/>
                          <a:tab pos="457200" algn="l"/>
                        </a:tabLst>
                      </a:pPr>
                      <a:r>
                        <a:rPr lang="he-IL" sz="1400" b="1">
                          <a:effectLst/>
                        </a:rPr>
                        <a:t>(משאבים)</a:t>
                      </a:r>
                      <a:endParaRPr lang="en-US" sz="1400" b="1">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tc>
                  <a:txBody>
                    <a:bodyPr/>
                    <a:lstStyle/>
                    <a:p>
                      <a:pPr algn="ctr" rtl="1">
                        <a:spcAft>
                          <a:spcPts val="0"/>
                        </a:spcAft>
                        <a:tabLst>
                          <a:tab pos="2637155" algn="ctr"/>
                          <a:tab pos="5274310" algn="r"/>
                          <a:tab pos="457200" algn="l"/>
                        </a:tabLst>
                      </a:pPr>
                      <a:r>
                        <a:rPr lang="he-IL" sz="1400" b="1">
                          <a:effectLst/>
                        </a:rPr>
                        <a:t>גורם אחראי ומשתתפים</a:t>
                      </a:r>
                      <a:endParaRPr lang="en-US" sz="1400" b="1">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tc>
                  <a:txBody>
                    <a:bodyPr/>
                    <a:lstStyle/>
                    <a:p>
                      <a:pPr algn="ctr" rtl="1">
                        <a:spcAft>
                          <a:spcPts val="0"/>
                        </a:spcAft>
                        <a:tabLst>
                          <a:tab pos="2637155" algn="ctr"/>
                          <a:tab pos="5274310" algn="r"/>
                          <a:tab pos="457200" algn="l"/>
                        </a:tabLst>
                      </a:pPr>
                      <a:r>
                        <a:rPr lang="he-IL" sz="1400" b="1">
                          <a:effectLst/>
                        </a:rPr>
                        <a:t>מדדים להערכה</a:t>
                      </a:r>
                      <a:endParaRPr lang="en-US" sz="1400" b="1">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tc>
                  <a:txBody>
                    <a:bodyPr/>
                    <a:lstStyle/>
                    <a:p>
                      <a:pPr algn="ctr" rtl="1">
                        <a:spcAft>
                          <a:spcPts val="0"/>
                        </a:spcAft>
                        <a:tabLst>
                          <a:tab pos="2637155" algn="ctr"/>
                          <a:tab pos="5274310" algn="r"/>
                          <a:tab pos="457200" algn="l"/>
                        </a:tabLst>
                      </a:pPr>
                      <a:r>
                        <a:rPr lang="he-IL" sz="1400" b="1">
                          <a:effectLst/>
                        </a:rPr>
                        <a:t>לו"ז לסיום</a:t>
                      </a:r>
                      <a:endParaRPr lang="en-US" sz="1400" b="1">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tc>
                  <a:txBody>
                    <a:bodyPr/>
                    <a:lstStyle/>
                    <a:p>
                      <a:pPr algn="ctr" rtl="1">
                        <a:spcAft>
                          <a:spcPts val="0"/>
                        </a:spcAft>
                        <a:tabLst>
                          <a:tab pos="2637155" algn="ctr"/>
                          <a:tab pos="5274310" algn="r"/>
                          <a:tab pos="457200" algn="l"/>
                        </a:tabLst>
                      </a:pPr>
                      <a:r>
                        <a:rPr lang="he-IL" sz="1400" b="1">
                          <a:effectLst/>
                        </a:rPr>
                        <a:t>בקרת תדירות ואופן ביצוע</a:t>
                      </a:r>
                      <a:endParaRPr lang="en-US" sz="1400" b="1">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extLst>
                  <a:ext uri="{0D108BD9-81ED-4DB2-BD59-A6C34878D82A}">
                    <a16:rowId xmlns:a16="http://schemas.microsoft.com/office/drawing/2014/main" val="10000"/>
                  </a:ext>
                </a:extLst>
              </a:tr>
              <a:tr h="3468764">
                <a:tc>
                  <a:txBody>
                    <a:bodyPr/>
                    <a:lstStyle/>
                    <a:p>
                      <a:pPr algn="r" rtl="1">
                        <a:lnSpc>
                          <a:spcPct val="150000"/>
                        </a:lnSpc>
                        <a:spcAft>
                          <a:spcPts val="0"/>
                        </a:spcAft>
                        <a:tabLst>
                          <a:tab pos="2637155" algn="ctr"/>
                          <a:tab pos="5274310" algn="r"/>
                          <a:tab pos="457200" algn="l"/>
                        </a:tabLst>
                      </a:pPr>
                      <a:r>
                        <a:rPr lang="he-IL" sz="1400">
                          <a:effectLst/>
                        </a:rPr>
                        <a:t>האם המטרות מתייחסות לטווח קצר וארוך?</a:t>
                      </a:r>
                      <a:endParaRPr lang="en-US" sz="1400">
                        <a:effectLst/>
                      </a:endParaRPr>
                    </a:p>
                    <a:p>
                      <a:pPr algn="r" rtl="1">
                        <a:lnSpc>
                          <a:spcPct val="150000"/>
                        </a:lnSpc>
                        <a:spcAft>
                          <a:spcPts val="0"/>
                        </a:spcAft>
                        <a:tabLst>
                          <a:tab pos="2637155" algn="ctr"/>
                          <a:tab pos="5274310" algn="r"/>
                          <a:tab pos="457200" algn="l"/>
                        </a:tabLst>
                      </a:pPr>
                      <a:r>
                        <a:rPr lang="he-IL" sz="1400">
                          <a:effectLst/>
                        </a:rPr>
                        <a:t>האם המטרות מתייחסות לקהל יעד?</a:t>
                      </a:r>
                      <a:endParaRPr lang="en-US" sz="1400">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tc>
                  <a:txBody>
                    <a:bodyPr/>
                    <a:lstStyle/>
                    <a:p>
                      <a:pPr algn="r" rtl="1">
                        <a:lnSpc>
                          <a:spcPct val="150000"/>
                        </a:lnSpc>
                        <a:spcAft>
                          <a:spcPts val="0"/>
                        </a:spcAft>
                        <a:tabLst>
                          <a:tab pos="2637155" algn="ctr"/>
                          <a:tab pos="5274310" algn="r"/>
                          <a:tab pos="457200" algn="l"/>
                        </a:tabLst>
                      </a:pPr>
                      <a:r>
                        <a:rPr lang="he-IL" sz="1400" dirty="0">
                          <a:effectLst/>
                        </a:rPr>
                        <a:t>האם היעדים מדידים (כמותיים)?</a:t>
                      </a:r>
                      <a:endParaRPr lang="en-US" sz="1400" dirty="0">
                        <a:effectLst/>
                      </a:endParaRPr>
                    </a:p>
                    <a:p>
                      <a:pPr algn="r" rtl="1">
                        <a:lnSpc>
                          <a:spcPct val="150000"/>
                        </a:lnSpc>
                        <a:spcAft>
                          <a:spcPts val="0"/>
                        </a:spcAft>
                        <a:tabLst>
                          <a:tab pos="2637155" algn="ctr"/>
                          <a:tab pos="5274310" algn="r"/>
                          <a:tab pos="457200" algn="l"/>
                        </a:tabLst>
                      </a:pPr>
                      <a:r>
                        <a:rPr lang="he-IL" sz="1400" dirty="0">
                          <a:effectLst/>
                        </a:rPr>
                        <a:t>ספציפיים(התנהגותיים)?</a:t>
                      </a:r>
                      <a:endParaRPr lang="en-US" sz="1400" dirty="0">
                        <a:effectLst/>
                      </a:endParaRPr>
                    </a:p>
                    <a:p>
                      <a:pPr algn="r" rtl="1">
                        <a:lnSpc>
                          <a:spcPct val="150000"/>
                        </a:lnSpc>
                        <a:spcAft>
                          <a:spcPts val="0"/>
                        </a:spcAft>
                        <a:tabLst>
                          <a:tab pos="2637155" algn="ctr"/>
                          <a:tab pos="5274310" algn="r"/>
                          <a:tab pos="457200" algn="l"/>
                        </a:tabLst>
                      </a:pPr>
                      <a:r>
                        <a:rPr lang="he-IL" sz="1400" dirty="0">
                          <a:effectLst/>
                        </a:rPr>
                        <a:t>ברי השגה?</a:t>
                      </a:r>
                      <a:endParaRPr lang="en-US" sz="1400" dirty="0">
                        <a:effectLst/>
                      </a:endParaRPr>
                    </a:p>
                    <a:p>
                      <a:pPr algn="r" rtl="1">
                        <a:lnSpc>
                          <a:spcPct val="150000"/>
                        </a:lnSpc>
                        <a:spcAft>
                          <a:spcPts val="0"/>
                        </a:spcAft>
                        <a:tabLst>
                          <a:tab pos="2637155" algn="ctr"/>
                          <a:tab pos="5274310" algn="r"/>
                          <a:tab pos="457200" algn="l"/>
                        </a:tabLst>
                      </a:pPr>
                      <a:r>
                        <a:rPr lang="he-IL" sz="1400" dirty="0">
                          <a:effectLst/>
                        </a:rPr>
                        <a:t>מנוסחים באופן חיובי?</a:t>
                      </a:r>
                      <a:endParaRPr lang="en-US" sz="1400" dirty="0">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tc>
                  <a:txBody>
                    <a:bodyPr/>
                    <a:lstStyle/>
                    <a:p>
                      <a:pPr algn="r" rtl="1">
                        <a:lnSpc>
                          <a:spcPct val="150000"/>
                        </a:lnSpc>
                        <a:spcAft>
                          <a:spcPts val="0"/>
                        </a:spcAft>
                        <a:tabLst>
                          <a:tab pos="2637155" algn="ctr"/>
                          <a:tab pos="5274310" algn="r"/>
                          <a:tab pos="457200" algn="l"/>
                        </a:tabLst>
                      </a:pPr>
                      <a:r>
                        <a:rPr lang="he-IL" sz="1400" dirty="0">
                          <a:effectLst/>
                        </a:rPr>
                        <a:t>האם הפעולות ריאליות?</a:t>
                      </a:r>
                      <a:endParaRPr lang="en-US" sz="1400" dirty="0">
                        <a:effectLst/>
                      </a:endParaRPr>
                    </a:p>
                    <a:p>
                      <a:pPr algn="r" rtl="1">
                        <a:lnSpc>
                          <a:spcPct val="150000"/>
                        </a:lnSpc>
                        <a:spcAft>
                          <a:spcPts val="0"/>
                        </a:spcAft>
                        <a:tabLst>
                          <a:tab pos="2637155" algn="ctr"/>
                          <a:tab pos="5274310" algn="r"/>
                          <a:tab pos="457200" algn="l"/>
                        </a:tabLst>
                      </a:pPr>
                      <a:r>
                        <a:rPr lang="he-IL" sz="1400" dirty="0">
                          <a:effectLst/>
                        </a:rPr>
                        <a:t>בשיתוף פעולה של צוות רב מקצועי?</a:t>
                      </a:r>
                      <a:endParaRPr lang="en-US" sz="1400" dirty="0">
                        <a:effectLst/>
                      </a:endParaRPr>
                    </a:p>
                    <a:p>
                      <a:pPr algn="r" rtl="1">
                        <a:lnSpc>
                          <a:spcPct val="150000"/>
                        </a:lnSpc>
                        <a:spcAft>
                          <a:spcPts val="0"/>
                        </a:spcAft>
                        <a:tabLst>
                          <a:tab pos="2637155" algn="ctr"/>
                          <a:tab pos="5274310" algn="r"/>
                          <a:tab pos="457200" algn="l"/>
                        </a:tabLst>
                      </a:pPr>
                      <a:r>
                        <a:rPr lang="he-IL" sz="1400" dirty="0">
                          <a:effectLst/>
                        </a:rPr>
                        <a:t>בשיתוף עם גורמי הנהלה </a:t>
                      </a:r>
                      <a:r>
                        <a:rPr lang="he-IL" sz="1400" dirty="0" err="1">
                          <a:effectLst/>
                        </a:rPr>
                        <a:t>רלונטיים</a:t>
                      </a:r>
                      <a:r>
                        <a:rPr lang="he-IL" sz="1400" dirty="0">
                          <a:effectLst/>
                        </a:rPr>
                        <a:t>?</a:t>
                      </a:r>
                      <a:endParaRPr lang="en-US" sz="1400" dirty="0">
                        <a:effectLst/>
                      </a:endParaRPr>
                    </a:p>
                    <a:p>
                      <a:pPr algn="r" rtl="1">
                        <a:lnSpc>
                          <a:spcPct val="150000"/>
                        </a:lnSpc>
                        <a:spcAft>
                          <a:spcPts val="0"/>
                        </a:spcAft>
                        <a:tabLst>
                          <a:tab pos="2637155" algn="ctr"/>
                          <a:tab pos="5274310" algn="r"/>
                          <a:tab pos="457200" algn="l"/>
                        </a:tabLst>
                      </a:pPr>
                      <a:r>
                        <a:rPr lang="he-IL" sz="1400" dirty="0">
                          <a:effectLst/>
                        </a:rPr>
                        <a:t>מגוונות ומקיפות לצורך השגת המטרה?</a:t>
                      </a:r>
                      <a:endParaRPr lang="en-US" sz="1400" dirty="0">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tc>
                  <a:txBody>
                    <a:bodyPr/>
                    <a:lstStyle/>
                    <a:p>
                      <a:pPr algn="r" rtl="1">
                        <a:lnSpc>
                          <a:spcPct val="150000"/>
                        </a:lnSpc>
                        <a:spcAft>
                          <a:spcPts val="0"/>
                        </a:spcAft>
                        <a:tabLst>
                          <a:tab pos="2637155" algn="ctr"/>
                          <a:tab pos="5274310" algn="r"/>
                          <a:tab pos="457200" algn="l"/>
                        </a:tabLst>
                      </a:pPr>
                      <a:r>
                        <a:rPr lang="he-IL" sz="1400" dirty="0">
                          <a:effectLst/>
                        </a:rPr>
                        <a:t>זמן</a:t>
                      </a:r>
                      <a:endParaRPr lang="en-US" sz="1400" dirty="0">
                        <a:effectLst/>
                      </a:endParaRPr>
                    </a:p>
                    <a:p>
                      <a:pPr algn="r" rtl="1">
                        <a:lnSpc>
                          <a:spcPct val="150000"/>
                        </a:lnSpc>
                        <a:spcAft>
                          <a:spcPts val="0"/>
                        </a:spcAft>
                        <a:tabLst>
                          <a:tab pos="2637155" algn="ctr"/>
                          <a:tab pos="5274310" algn="r"/>
                          <a:tab pos="457200" algn="l"/>
                        </a:tabLst>
                      </a:pPr>
                      <a:r>
                        <a:rPr lang="he-IL" sz="1400" dirty="0">
                          <a:effectLst/>
                        </a:rPr>
                        <a:t>כוח אדם</a:t>
                      </a:r>
                      <a:endParaRPr lang="en-US" sz="1400" dirty="0">
                        <a:effectLst/>
                      </a:endParaRPr>
                    </a:p>
                    <a:p>
                      <a:pPr algn="r" rtl="1">
                        <a:lnSpc>
                          <a:spcPct val="150000"/>
                        </a:lnSpc>
                        <a:spcAft>
                          <a:spcPts val="0"/>
                        </a:spcAft>
                        <a:tabLst>
                          <a:tab pos="2637155" algn="ctr"/>
                          <a:tab pos="5274310" algn="r"/>
                          <a:tab pos="457200" algn="l"/>
                        </a:tabLst>
                      </a:pPr>
                      <a:r>
                        <a:rPr lang="he-IL" sz="1400" dirty="0">
                          <a:effectLst/>
                        </a:rPr>
                        <a:t>ציוד</a:t>
                      </a:r>
                      <a:endParaRPr lang="en-US" sz="1400" dirty="0">
                        <a:effectLst/>
                      </a:endParaRPr>
                    </a:p>
                    <a:p>
                      <a:pPr algn="r" rtl="1">
                        <a:lnSpc>
                          <a:spcPct val="150000"/>
                        </a:lnSpc>
                        <a:spcAft>
                          <a:spcPts val="0"/>
                        </a:spcAft>
                        <a:tabLst>
                          <a:tab pos="2637155" algn="ctr"/>
                          <a:tab pos="5274310" algn="r"/>
                          <a:tab pos="457200" algn="l"/>
                        </a:tabLst>
                      </a:pPr>
                      <a:r>
                        <a:rPr lang="he-IL" sz="1400" dirty="0">
                          <a:effectLst/>
                        </a:rPr>
                        <a:t>עלויות</a:t>
                      </a:r>
                      <a:endParaRPr lang="en-US" sz="1400" dirty="0">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tc>
                  <a:txBody>
                    <a:bodyPr/>
                    <a:lstStyle/>
                    <a:p>
                      <a:pPr algn="r" rtl="1">
                        <a:lnSpc>
                          <a:spcPct val="150000"/>
                        </a:lnSpc>
                        <a:spcAft>
                          <a:spcPts val="0"/>
                        </a:spcAft>
                        <a:tabLst>
                          <a:tab pos="2637155" algn="ctr"/>
                          <a:tab pos="5274310" algn="r"/>
                          <a:tab pos="457200" algn="l"/>
                        </a:tabLst>
                      </a:pPr>
                      <a:r>
                        <a:rPr lang="he-IL" sz="1400" dirty="0">
                          <a:effectLst/>
                        </a:rPr>
                        <a:t>האם לכל יעד הוגדר האחראי לביצוע?</a:t>
                      </a:r>
                      <a:endParaRPr lang="en-US" sz="1400" dirty="0">
                        <a:effectLst/>
                      </a:endParaRPr>
                    </a:p>
                    <a:p>
                      <a:pPr algn="r" rtl="1">
                        <a:lnSpc>
                          <a:spcPct val="150000"/>
                        </a:lnSpc>
                        <a:spcAft>
                          <a:spcPts val="0"/>
                        </a:spcAft>
                        <a:tabLst>
                          <a:tab pos="2637155" algn="ctr"/>
                          <a:tab pos="5274310" algn="r"/>
                          <a:tab pos="457200" algn="l"/>
                        </a:tabLst>
                      </a:pPr>
                      <a:r>
                        <a:rPr lang="he-IL" sz="1400" dirty="0">
                          <a:effectLst/>
                        </a:rPr>
                        <a:t>האם הגדרת האחריות ריאלית בהתאם לסמכות ולפעולה הנדרשת?</a:t>
                      </a:r>
                      <a:endParaRPr lang="en-US" sz="1400" dirty="0">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tc>
                  <a:txBody>
                    <a:bodyPr/>
                    <a:lstStyle/>
                    <a:p>
                      <a:pPr algn="r" rtl="1">
                        <a:lnSpc>
                          <a:spcPct val="150000"/>
                        </a:lnSpc>
                        <a:spcAft>
                          <a:spcPts val="0"/>
                        </a:spcAft>
                        <a:tabLst>
                          <a:tab pos="2637155" algn="ctr"/>
                          <a:tab pos="5274310" algn="r"/>
                          <a:tab pos="457200" algn="l"/>
                        </a:tabLst>
                      </a:pPr>
                      <a:r>
                        <a:rPr lang="he-IL" sz="1400" dirty="0">
                          <a:effectLst/>
                        </a:rPr>
                        <a:t>האם לכל יעד הוגדרו מדדים להערכה?</a:t>
                      </a:r>
                      <a:endParaRPr lang="en-US" sz="1400" dirty="0">
                        <a:effectLst/>
                      </a:endParaRPr>
                    </a:p>
                    <a:p>
                      <a:pPr algn="r" rtl="1">
                        <a:lnSpc>
                          <a:spcPct val="150000"/>
                        </a:lnSpc>
                        <a:spcAft>
                          <a:spcPts val="0"/>
                        </a:spcAft>
                        <a:tabLst>
                          <a:tab pos="2637155" algn="ctr"/>
                          <a:tab pos="5274310" algn="r"/>
                          <a:tab pos="457200" algn="l"/>
                        </a:tabLst>
                      </a:pPr>
                      <a:r>
                        <a:rPr lang="he-IL" sz="1400" dirty="0">
                          <a:effectLst/>
                        </a:rPr>
                        <a:t>האם המדדים כמותיים ואובייקטיביים?</a:t>
                      </a:r>
                      <a:endParaRPr lang="en-US" sz="1400" dirty="0">
                        <a:effectLst/>
                      </a:endParaRPr>
                    </a:p>
                    <a:p>
                      <a:pPr algn="r" rtl="1">
                        <a:lnSpc>
                          <a:spcPct val="150000"/>
                        </a:lnSpc>
                        <a:spcAft>
                          <a:spcPts val="0"/>
                        </a:spcAft>
                        <a:tabLst>
                          <a:tab pos="2637155" algn="ctr"/>
                          <a:tab pos="5274310" algn="r"/>
                          <a:tab pos="457200" algn="l"/>
                        </a:tabLst>
                      </a:pPr>
                      <a:r>
                        <a:rPr lang="he-IL" sz="1400" dirty="0">
                          <a:effectLst/>
                        </a:rPr>
                        <a:t> </a:t>
                      </a:r>
                      <a:endParaRPr lang="en-US" sz="1400" dirty="0">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tc>
                  <a:txBody>
                    <a:bodyPr/>
                    <a:lstStyle/>
                    <a:p>
                      <a:pPr algn="r" rtl="1">
                        <a:lnSpc>
                          <a:spcPct val="150000"/>
                        </a:lnSpc>
                        <a:spcAft>
                          <a:spcPts val="0"/>
                        </a:spcAft>
                        <a:tabLst>
                          <a:tab pos="2637155" algn="ctr"/>
                          <a:tab pos="5274310" algn="r"/>
                          <a:tab pos="457200" algn="l"/>
                        </a:tabLst>
                      </a:pPr>
                      <a:r>
                        <a:rPr lang="he-IL" sz="1400" dirty="0">
                          <a:effectLst/>
                        </a:rPr>
                        <a:t>האם נקבעו לוחות זמנים לסיום כל פעולה?</a:t>
                      </a:r>
                      <a:endParaRPr lang="en-US" sz="1400" dirty="0">
                        <a:effectLst/>
                      </a:endParaRPr>
                    </a:p>
                    <a:p>
                      <a:pPr algn="r" rtl="1">
                        <a:lnSpc>
                          <a:spcPct val="150000"/>
                        </a:lnSpc>
                        <a:spcAft>
                          <a:spcPts val="0"/>
                        </a:spcAft>
                        <a:tabLst>
                          <a:tab pos="2637155" algn="ctr"/>
                          <a:tab pos="5274310" algn="r"/>
                          <a:tab pos="457200" algn="l"/>
                        </a:tabLst>
                      </a:pPr>
                      <a:r>
                        <a:rPr lang="he-IL" sz="1400" dirty="0">
                          <a:effectLst/>
                        </a:rPr>
                        <a:t>האם לוחות הזמנים ריאליים?</a:t>
                      </a:r>
                      <a:endParaRPr lang="en-US" sz="1400" dirty="0">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tc>
                  <a:txBody>
                    <a:bodyPr/>
                    <a:lstStyle/>
                    <a:p>
                      <a:pPr algn="r" rtl="1">
                        <a:lnSpc>
                          <a:spcPct val="150000"/>
                        </a:lnSpc>
                        <a:spcAft>
                          <a:spcPts val="0"/>
                        </a:spcAft>
                        <a:tabLst>
                          <a:tab pos="2637155" algn="ctr"/>
                          <a:tab pos="5274310" algn="r"/>
                          <a:tab pos="457200" algn="l"/>
                        </a:tabLst>
                      </a:pPr>
                      <a:r>
                        <a:rPr lang="he-IL" sz="1400" dirty="0">
                          <a:effectLst/>
                        </a:rPr>
                        <a:t>האם נקבעו נקודות זמן לבדיקת מידת ההתקדמות להשגת היעד?</a:t>
                      </a:r>
                      <a:endParaRPr lang="en-US" sz="1400" dirty="0">
                        <a:effectLst/>
                        <a:latin typeface="Times New Roman" panose="02020603050405020304" pitchFamily="18" charset="0"/>
                        <a:ea typeface="Times New Roman" panose="02020603050405020304" pitchFamily="18" charset="0"/>
                        <a:cs typeface="Miriam" panose="020B0502050101010101" pitchFamily="34" charset="-79"/>
                      </a:endParaRPr>
                    </a:p>
                  </a:txBody>
                  <a:tcPr marL="66798" marR="66798"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8366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5507685-9A65-5B7B-3BFB-E7F9432E94C4}"/>
              </a:ext>
            </a:extLst>
          </p:cNvPr>
          <p:cNvSpPr>
            <a:spLocks noGrp="1"/>
          </p:cNvSpPr>
          <p:nvPr>
            <p:ph type="ftr" sz="quarter" idx="11"/>
          </p:nvPr>
        </p:nvSpPr>
        <p:spPr/>
        <p:txBody>
          <a:bodyPr/>
          <a:lstStyle/>
          <a:p>
            <a:r>
              <a:rPr lang="he-IL"/>
              <a:t>2022</a:t>
            </a:r>
          </a:p>
        </p:txBody>
      </p:sp>
      <p:sp>
        <p:nvSpPr>
          <p:cNvPr id="5" name="Slide Number Placeholder 4">
            <a:extLst>
              <a:ext uri="{FF2B5EF4-FFF2-40B4-BE49-F238E27FC236}">
                <a16:creationId xmlns:a16="http://schemas.microsoft.com/office/drawing/2014/main" id="{70D0DF74-9240-FD3B-6A94-7FC35C2C42C6}"/>
              </a:ext>
            </a:extLst>
          </p:cNvPr>
          <p:cNvSpPr>
            <a:spLocks noGrp="1"/>
          </p:cNvSpPr>
          <p:nvPr>
            <p:ph type="sldNum" sz="quarter" idx="12"/>
          </p:nvPr>
        </p:nvSpPr>
        <p:spPr/>
        <p:txBody>
          <a:bodyPr/>
          <a:lstStyle/>
          <a:p>
            <a:fld id="{0B6DB7EB-7CAA-4966-9DEB-452E170A8E58}" type="slidenum">
              <a:rPr lang="he-IL" smtClean="0"/>
              <a:t>6</a:t>
            </a:fld>
            <a:endParaRPr lang="he-IL"/>
          </a:p>
        </p:txBody>
      </p:sp>
      <p:sp>
        <p:nvSpPr>
          <p:cNvPr id="9" name="TextBox 8">
            <a:extLst>
              <a:ext uri="{FF2B5EF4-FFF2-40B4-BE49-F238E27FC236}">
                <a16:creationId xmlns:a16="http://schemas.microsoft.com/office/drawing/2014/main" id="{C7DB6ECD-16AD-E44A-D2A5-7D4D0347C28D}"/>
              </a:ext>
            </a:extLst>
          </p:cNvPr>
          <p:cNvSpPr txBox="1"/>
          <p:nvPr/>
        </p:nvSpPr>
        <p:spPr>
          <a:xfrm>
            <a:off x="5879976" y="149101"/>
            <a:ext cx="4572000" cy="400110"/>
          </a:xfrm>
          <a:prstGeom prst="rect">
            <a:avLst/>
          </a:prstGeom>
          <a:noFill/>
        </p:spPr>
        <p:txBody>
          <a:bodyPr wrap="square">
            <a:spAutoFit/>
          </a:bodyPr>
          <a:lstStyle/>
          <a:p>
            <a:pPr marL="228600" algn="r" rtl="1"/>
            <a:r>
              <a:rPr lang="he-IL" b="1" i="1" dirty="0">
                <a:latin typeface="Arial" panose="020B0604020202020204" pitchFamily="34" charset="0"/>
                <a:ea typeface="Times New Roman" panose="02020603050405020304" pitchFamily="18" charset="0"/>
                <a:cs typeface="David" panose="020E0502060401010101" pitchFamily="34" charset="-79"/>
              </a:rPr>
              <a:t> פורמט לדוגמה</a:t>
            </a:r>
            <a:r>
              <a:rPr lang="en-US" b="1" i="1" dirty="0">
                <a:latin typeface="Arial" panose="020B0604020202020204" pitchFamily="34" charset="0"/>
                <a:ea typeface="Times New Roman" panose="02020603050405020304" pitchFamily="18" charset="0"/>
                <a:cs typeface="David" panose="020E0502060401010101" pitchFamily="34" charset="-79"/>
              </a:rPr>
              <a:t>-</a:t>
            </a:r>
            <a:r>
              <a:rPr lang="en-US" b="1" i="1" dirty="0">
                <a:latin typeface="David" panose="020E0502060401010101" pitchFamily="34" charset="-79"/>
                <a:ea typeface="Times New Roman" panose="02020603050405020304" pitchFamily="18" charset="0"/>
                <a:cs typeface="Miriam" panose="020B0502050101010101" pitchFamily="34" charset="-79"/>
              </a:rPr>
              <a:t> </a:t>
            </a:r>
            <a:r>
              <a:rPr lang="en-US" sz="2000" b="1" dirty="0">
                <a:latin typeface="Times New Roman" panose="02020603050405020304" pitchFamily="18" charset="0"/>
                <a:ea typeface="Times New Roman" panose="02020603050405020304" pitchFamily="18" charset="0"/>
                <a:cs typeface="Miriam" panose="020B0502050101010101" pitchFamily="34" charset="-79"/>
              </a:rPr>
              <a:t>PDSA</a:t>
            </a:r>
            <a:endParaRPr lang="en-US" sz="1200" dirty="0">
              <a:latin typeface="Times New Roman" panose="02020603050405020304" pitchFamily="18" charset="0"/>
              <a:ea typeface="Times New Roman" panose="02020603050405020304" pitchFamily="18" charset="0"/>
              <a:cs typeface="Miriam" panose="020B0502050101010101" pitchFamily="34" charset="-79"/>
            </a:endParaRPr>
          </a:p>
        </p:txBody>
      </p:sp>
      <p:pic>
        <p:nvPicPr>
          <p:cNvPr id="11" name="תמונה 1">
            <a:extLst>
              <a:ext uri="{FF2B5EF4-FFF2-40B4-BE49-F238E27FC236}">
                <a16:creationId xmlns:a16="http://schemas.microsoft.com/office/drawing/2014/main" id="{73D2D1FA-CFDE-8D3F-0A04-AED0E6831416}"/>
              </a:ext>
            </a:extLst>
          </p:cNvPr>
          <p:cNvPicPr>
            <a:picLocks noChangeAspect="1"/>
          </p:cNvPicPr>
          <p:nvPr/>
        </p:nvPicPr>
        <p:blipFill>
          <a:blip r:embed="rId2"/>
          <a:stretch>
            <a:fillRect/>
          </a:stretch>
        </p:blipFill>
        <p:spPr>
          <a:xfrm>
            <a:off x="2423593" y="534364"/>
            <a:ext cx="3151505" cy="1590675"/>
          </a:xfrm>
          <a:prstGeom prst="rect">
            <a:avLst/>
          </a:prstGeom>
        </p:spPr>
      </p:pic>
      <p:pic>
        <p:nvPicPr>
          <p:cNvPr id="12" name="תמונה 1" descr="Patient Safety Oxford | Measurement for Improvement">
            <a:extLst>
              <a:ext uri="{FF2B5EF4-FFF2-40B4-BE49-F238E27FC236}">
                <a16:creationId xmlns:a16="http://schemas.microsoft.com/office/drawing/2014/main" id="{83356037-D38D-E195-1654-2172ED90F76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23312" y="2564905"/>
            <a:ext cx="2552065" cy="3473609"/>
          </a:xfrm>
          <a:prstGeom prst="rect">
            <a:avLst/>
          </a:prstGeom>
          <a:noFill/>
          <a:ln>
            <a:noFill/>
          </a:ln>
        </p:spPr>
      </p:pic>
      <p:graphicFrame>
        <p:nvGraphicFramePr>
          <p:cNvPr id="2" name="טבלה 1">
            <a:extLst>
              <a:ext uri="{FF2B5EF4-FFF2-40B4-BE49-F238E27FC236}">
                <a16:creationId xmlns:a16="http://schemas.microsoft.com/office/drawing/2014/main" id="{D6B0A16A-F6F6-05A7-8D79-29553213DC7E}"/>
              </a:ext>
            </a:extLst>
          </p:cNvPr>
          <p:cNvGraphicFramePr>
            <a:graphicFrameLocks noGrp="1"/>
          </p:cNvGraphicFramePr>
          <p:nvPr/>
        </p:nvGraphicFramePr>
        <p:xfrm>
          <a:off x="5159897" y="867048"/>
          <a:ext cx="5102353" cy="4527922"/>
        </p:xfrm>
        <a:graphic>
          <a:graphicData uri="http://schemas.openxmlformats.org/drawingml/2006/table">
            <a:tbl>
              <a:tblPr firstRow="1" firstCol="1" bandRow="1">
                <a:tableStyleId>{5C22544A-7EE6-4342-B048-85BDC9FD1C3A}</a:tableStyleId>
              </a:tblPr>
              <a:tblGrid>
                <a:gridCol w="2856211">
                  <a:extLst>
                    <a:ext uri="{9D8B030D-6E8A-4147-A177-3AD203B41FA5}">
                      <a16:colId xmlns:a16="http://schemas.microsoft.com/office/drawing/2014/main" val="718777406"/>
                    </a:ext>
                  </a:extLst>
                </a:gridCol>
                <a:gridCol w="2246142">
                  <a:extLst>
                    <a:ext uri="{9D8B030D-6E8A-4147-A177-3AD203B41FA5}">
                      <a16:colId xmlns:a16="http://schemas.microsoft.com/office/drawing/2014/main" val="544064172"/>
                    </a:ext>
                  </a:extLst>
                </a:gridCol>
              </a:tblGrid>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מחלקה/יחידה/ שירות</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1644065918"/>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שם הפרויקט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1769985809"/>
                  </a:ext>
                </a:extLst>
              </a:tr>
              <a:tr h="140724">
                <a:tc gridSpan="2">
                  <a:txBody>
                    <a:bodyPr/>
                    <a:lstStyle/>
                    <a:p>
                      <a:pPr algn="r" rtl="1">
                        <a:lnSpc>
                          <a:spcPct val="107000"/>
                        </a:lnSpc>
                      </a:pPr>
                      <a:r>
                        <a:rPr lang="en-US" sz="900">
                          <a:effectLst/>
                        </a:rPr>
                        <a:t> </a:t>
                      </a:r>
                      <a:r>
                        <a:rPr lang="he-IL" sz="900">
                          <a:effectLst/>
                        </a:rPr>
                        <a:t>תכנון </a:t>
                      </a:r>
                      <a:r>
                        <a:rPr lang="en-US" sz="900">
                          <a:effectLst/>
                        </a:rPr>
                        <a:t>PLAN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hMerge="1">
                  <a:txBody>
                    <a:bodyPr/>
                    <a:lstStyle/>
                    <a:p>
                      <a:pPr rtl="1"/>
                      <a:endParaRPr lang="he-IL"/>
                    </a:p>
                  </a:txBody>
                  <a:tcPr/>
                </a:tc>
                <a:extLst>
                  <a:ext uri="{0D108BD9-81ED-4DB2-BD59-A6C34878D82A}">
                    <a16:rowId xmlns:a16="http://schemas.microsoft.com/office/drawing/2014/main" val="3214907554"/>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זיהוי הבעיה והגורמים לה</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2245690129"/>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מטרה</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1912444828"/>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תיאור מצב קיים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618295223"/>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הגדרת המדד לשיפור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1927375829"/>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יעד לשיפור ( כמותי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844272632"/>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שיטת איסוף נתונים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1449022035"/>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כלי איסוף הנתונים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1920906518"/>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תדירות איסוף הנתונים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1319703428"/>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תכנון תהליך השיפור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535107570"/>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תאריך סיום שלב התכנון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3976958313"/>
                  </a:ext>
                </a:extLst>
              </a:tr>
              <a:tr h="140724">
                <a:tc gridSpan="2">
                  <a:txBody>
                    <a:bodyPr/>
                    <a:lstStyle/>
                    <a:p>
                      <a:pPr algn="r" rtl="1">
                        <a:lnSpc>
                          <a:spcPct val="107000"/>
                        </a:lnSpc>
                      </a:pPr>
                      <a:r>
                        <a:rPr lang="en-US" sz="900">
                          <a:effectLst/>
                        </a:rPr>
                        <a:t> </a:t>
                      </a:r>
                      <a:r>
                        <a:rPr lang="he-IL" sz="900">
                          <a:effectLst/>
                        </a:rPr>
                        <a:t>בצע </a:t>
                      </a:r>
                      <a:r>
                        <a:rPr lang="en-US" sz="900">
                          <a:effectLst/>
                        </a:rPr>
                        <a:t>DO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hMerge="1">
                  <a:txBody>
                    <a:bodyPr/>
                    <a:lstStyle/>
                    <a:p>
                      <a:pPr rtl="1"/>
                      <a:endParaRPr lang="he-IL"/>
                    </a:p>
                  </a:txBody>
                  <a:tcPr/>
                </a:tc>
                <a:extLst>
                  <a:ext uri="{0D108BD9-81ED-4DB2-BD59-A6C34878D82A}">
                    <a16:rowId xmlns:a16="http://schemas.microsoft.com/office/drawing/2014/main" val="3421304998"/>
                  </a:ext>
                </a:extLst>
              </a:tr>
              <a:tr h="285246">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הצגת תוצאות המדידה באופן כמותי ומובנה. (לדוגמה בצורה גרפית או טבלה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1521154135"/>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פירוט הפעולות המשפרות שבוצעו בפועל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289412623"/>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en-US" sz="900">
                          <a:effectLst/>
                        </a:rPr>
                        <a:t>DO </a:t>
                      </a:r>
                      <a:r>
                        <a:rPr lang="he-IL" sz="900">
                          <a:effectLst/>
                        </a:rPr>
                        <a:t>תאריך סיום שלב ה- </a:t>
                      </a:r>
                      <a:r>
                        <a:rPr lang="en-US" sz="9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2081167165"/>
                  </a:ext>
                </a:extLst>
              </a:tr>
              <a:tr h="140724">
                <a:tc gridSpan="2">
                  <a:txBody>
                    <a:bodyPr/>
                    <a:lstStyle/>
                    <a:p>
                      <a:pPr algn="r" rtl="1">
                        <a:lnSpc>
                          <a:spcPct val="107000"/>
                        </a:lnSpc>
                      </a:pPr>
                      <a:r>
                        <a:rPr lang="he-IL" sz="900">
                          <a:effectLst/>
                        </a:rPr>
                        <a:t>-למד </a:t>
                      </a:r>
                      <a:r>
                        <a:rPr lang="en-US" sz="900">
                          <a:effectLst/>
                        </a:rPr>
                        <a:t>STUDY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hMerge="1">
                  <a:txBody>
                    <a:bodyPr/>
                    <a:lstStyle/>
                    <a:p>
                      <a:pPr rtl="1"/>
                      <a:endParaRPr lang="he-IL"/>
                    </a:p>
                  </a:txBody>
                  <a:tcPr/>
                </a:tc>
                <a:extLst>
                  <a:ext uri="{0D108BD9-81ED-4DB2-BD59-A6C34878D82A}">
                    <a16:rowId xmlns:a16="http://schemas.microsoft.com/office/drawing/2014/main" val="935100535"/>
                  </a:ext>
                </a:extLst>
              </a:tr>
              <a:tr h="429768">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בדיקת הממצאים שהתקבלו באיסוף הנתונים והשוואה למתכונן ( האם התוצאות שהושגו תואמות את היעד ? )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1932507432"/>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ניתוח הפערים במידה וקיימים סיבות לפערים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1050644271"/>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תאריך סיום שלב ה- </a:t>
                      </a:r>
                      <a:r>
                        <a:rPr lang="en-US" sz="900">
                          <a:effectLst/>
                        </a:rPr>
                        <a:t>STUDY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2705223650"/>
                  </a:ext>
                </a:extLst>
              </a:tr>
              <a:tr h="140724">
                <a:tc gridSpan="2">
                  <a:txBody>
                    <a:bodyPr/>
                    <a:lstStyle/>
                    <a:p>
                      <a:pPr algn="r" rtl="0">
                        <a:lnSpc>
                          <a:spcPct val="107000"/>
                        </a:lnSpc>
                      </a:pPr>
                      <a:r>
                        <a:rPr lang="en-US" sz="900">
                          <a:effectLst/>
                        </a:rPr>
                        <a:t>        </a:t>
                      </a:r>
                      <a:r>
                        <a:rPr lang="he-IL" sz="900">
                          <a:effectLst/>
                        </a:rPr>
                        <a:t>  פעל      -</a:t>
                      </a:r>
                      <a:r>
                        <a:rPr lang="en-US" sz="900">
                          <a:effectLst/>
                        </a:rPr>
                        <a:t>ACT</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hMerge="1">
                  <a:txBody>
                    <a:bodyPr/>
                    <a:lstStyle/>
                    <a:p>
                      <a:pPr rtl="1"/>
                      <a:endParaRPr lang="he-IL"/>
                    </a:p>
                  </a:txBody>
                  <a:tcPr/>
                </a:tc>
                <a:extLst>
                  <a:ext uri="{0D108BD9-81ED-4DB2-BD59-A6C34878D82A}">
                    <a16:rowId xmlns:a16="http://schemas.microsoft.com/office/drawing/2014/main" val="3275469537"/>
                  </a:ext>
                </a:extLst>
              </a:tr>
              <a:tr h="429768">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המלצות לשיפור(כדוגמת כתיבת או עדכון נוהל, קיום ישיבות צוות , דיון רב מקצועי, שינוי מבני, שינוי במערכות המידע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236088559"/>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פירוט תכנית ההטמעה לשיפור בתהליכי המחלקה</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3133207343"/>
                  </a:ext>
                </a:extLst>
              </a:tr>
              <a:tr h="140724">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a:effectLst/>
                        </a:rPr>
                        <a:t>פירוט ההמלצה לגבי מעגל השיפור הבא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3640680701"/>
                  </a:ext>
                </a:extLst>
              </a:tr>
              <a:tr h="285246">
                <a:tc>
                  <a:txBody>
                    <a:bodyPr/>
                    <a:lstStyle/>
                    <a:p>
                      <a:pPr algn="r" rtl="0">
                        <a:lnSpc>
                          <a:spcPct val="107000"/>
                        </a:lnSpc>
                      </a:pPr>
                      <a:r>
                        <a:rPr lang="en-US" sz="700">
                          <a:effectLst/>
                        </a:rPr>
                        <a:t> </a:t>
                      </a:r>
                      <a:endParaRPr lang="en-US" sz="70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tc>
                  <a:txBody>
                    <a:bodyPr/>
                    <a:lstStyle/>
                    <a:p>
                      <a:pPr algn="r" rtl="0">
                        <a:lnSpc>
                          <a:spcPct val="107000"/>
                        </a:lnSpc>
                      </a:pPr>
                      <a:r>
                        <a:rPr lang="he-IL" sz="900" dirty="0">
                          <a:effectLst/>
                        </a:rPr>
                        <a:t>תאריך סיום שלב ה-פעל </a:t>
                      </a:r>
                      <a:endParaRPr lang="en-US" sz="700" dirty="0">
                        <a:effectLst/>
                      </a:endParaRPr>
                    </a:p>
                    <a:p>
                      <a:pPr algn="r" rtl="0">
                        <a:lnSpc>
                          <a:spcPct val="107000"/>
                        </a:lnSpc>
                      </a:pPr>
                      <a:r>
                        <a:rPr lang="en-US" sz="900" dirty="0">
                          <a:effectLst/>
                        </a:rPr>
                        <a:t>ACT</a:t>
                      </a:r>
                      <a:endParaRPr lang="en-US" sz="700" dirty="0">
                        <a:effectLst/>
                        <a:latin typeface="Times New Roman" panose="02020603050405020304" pitchFamily="18" charset="0"/>
                        <a:ea typeface="Times New Roman" panose="02020603050405020304" pitchFamily="18" charset="0"/>
                        <a:cs typeface="Miriam" panose="020B0502050101010101" pitchFamily="34" charset="-79"/>
                      </a:endParaRPr>
                    </a:p>
                  </a:txBody>
                  <a:tcPr marL="50644" marR="50644" marT="0" marB="0"/>
                </a:tc>
                <a:extLst>
                  <a:ext uri="{0D108BD9-81ED-4DB2-BD59-A6C34878D82A}">
                    <a16:rowId xmlns:a16="http://schemas.microsoft.com/office/drawing/2014/main" val="3895268914"/>
                  </a:ext>
                </a:extLst>
              </a:tr>
            </a:tbl>
          </a:graphicData>
        </a:graphic>
      </p:graphicFrame>
    </p:spTree>
    <p:extLst>
      <p:ext uri="{BB962C8B-B14F-4D97-AF65-F5344CB8AC3E}">
        <p14:creationId xmlns:p14="http://schemas.microsoft.com/office/powerpoint/2010/main" val="629565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1F409-BE71-26FE-F3F1-3903831A2401}"/>
              </a:ext>
            </a:extLst>
          </p:cNvPr>
          <p:cNvSpPr>
            <a:spLocks noGrp="1"/>
          </p:cNvSpPr>
          <p:nvPr>
            <p:ph type="title"/>
          </p:nvPr>
        </p:nvSpPr>
        <p:spPr>
          <a:xfrm>
            <a:off x="4572000" y="286603"/>
            <a:ext cx="6583680" cy="756737"/>
          </a:xfrm>
        </p:spPr>
        <p:txBody>
          <a:bodyPr>
            <a:normAutofit/>
          </a:bodyPr>
          <a:lstStyle/>
          <a:p>
            <a:pPr algn="r" rtl="1"/>
            <a:r>
              <a:rPr lang="he-IL" dirty="0">
                <a:latin typeface="Aharoni" panose="02010803020104030203" pitchFamily="2" charset="-79"/>
                <a:cs typeface="Aharoni" panose="02010803020104030203" pitchFamily="2" charset="-79"/>
              </a:rPr>
              <a:t>שתי גישות למדידה : גישה א' </a:t>
            </a:r>
            <a:endParaRPr lang="en-US" dirty="0">
              <a:latin typeface="Aharoni" panose="02010803020104030203" pitchFamily="2" charset="-79"/>
              <a:cs typeface="Aharoni" panose="02010803020104030203" pitchFamily="2" charset="-79"/>
            </a:endParaRPr>
          </a:p>
        </p:txBody>
      </p:sp>
      <p:sp>
        <p:nvSpPr>
          <p:cNvPr id="4" name="Slide Number Placeholder 3">
            <a:extLst>
              <a:ext uri="{FF2B5EF4-FFF2-40B4-BE49-F238E27FC236}">
                <a16:creationId xmlns:a16="http://schemas.microsoft.com/office/drawing/2014/main" id="{1211DFD2-A227-1F7B-C9C3-5C77B9343BCB}"/>
              </a:ext>
            </a:extLst>
          </p:cNvPr>
          <p:cNvSpPr>
            <a:spLocks noGrp="1"/>
          </p:cNvSpPr>
          <p:nvPr>
            <p:ph type="sldNum" sz="quarter" idx="12"/>
          </p:nvPr>
        </p:nvSpPr>
        <p:spPr/>
        <p:txBody>
          <a:bodyPr/>
          <a:lstStyle/>
          <a:p>
            <a:fld id="{3A98EE3D-8CD1-4C3F-BD1C-C98C9596463C}" type="slidenum">
              <a:rPr lang="en-US" smtClean="0"/>
              <a:t>8</a:t>
            </a:fld>
            <a:endParaRPr lang="en-US" dirty="0"/>
          </a:p>
        </p:txBody>
      </p:sp>
      <p:pic>
        <p:nvPicPr>
          <p:cNvPr id="6" name="Picture 5">
            <a:extLst>
              <a:ext uri="{FF2B5EF4-FFF2-40B4-BE49-F238E27FC236}">
                <a16:creationId xmlns:a16="http://schemas.microsoft.com/office/drawing/2014/main" id="{8E7F8D75-1061-4374-389E-20C2B52EE30A}"/>
              </a:ext>
            </a:extLst>
          </p:cNvPr>
          <p:cNvPicPr>
            <a:picLocks noChangeAspect="1"/>
          </p:cNvPicPr>
          <p:nvPr/>
        </p:nvPicPr>
        <p:blipFill>
          <a:blip r:embed="rId2"/>
          <a:stretch>
            <a:fillRect/>
          </a:stretch>
        </p:blipFill>
        <p:spPr>
          <a:xfrm>
            <a:off x="7277265" y="2117590"/>
            <a:ext cx="4133189" cy="3453872"/>
          </a:xfrm>
          <a:prstGeom prst="rect">
            <a:avLst/>
          </a:prstGeom>
        </p:spPr>
      </p:pic>
      <p:pic>
        <p:nvPicPr>
          <p:cNvPr id="9" name="תמונה 5">
            <a:extLst>
              <a:ext uri="{FF2B5EF4-FFF2-40B4-BE49-F238E27FC236}">
                <a16:creationId xmlns:a16="http://schemas.microsoft.com/office/drawing/2014/main" id="{1295C480-4ADA-4A1F-CCBD-C73CC1136123}"/>
              </a:ext>
            </a:extLst>
          </p:cNvPr>
          <p:cNvPicPr>
            <a:picLocks noChangeAspect="1"/>
          </p:cNvPicPr>
          <p:nvPr/>
        </p:nvPicPr>
        <p:blipFill>
          <a:blip r:embed="rId3"/>
          <a:stretch>
            <a:fillRect/>
          </a:stretch>
        </p:blipFill>
        <p:spPr>
          <a:xfrm>
            <a:off x="517031" y="1269119"/>
            <a:ext cx="6069639" cy="4825752"/>
          </a:xfrm>
          <a:prstGeom prst="rect">
            <a:avLst/>
          </a:prstGeom>
        </p:spPr>
      </p:pic>
    </p:spTree>
    <p:extLst>
      <p:ext uri="{BB962C8B-B14F-4D97-AF65-F5344CB8AC3E}">
        <p14:creationId xmlns:p14="http://schemas.microsoft.com/office/powerpoint/2010/main" val="1505186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1F409-BE71-26FE-F3F1-3903831A2401}"/>
              </a:ext>
            </a:extLst>
          </p:cNvPr>
          <p:cNvSpPr>
            <a:spLocks noGrp="1"/>
          </p:cNvSpPr>
          <p:nvPr>
            <p:ph type="title"/>
          </p:nvPr>
        </p:nvSpPr>
        <p:spPr>
          <a:xfrm>
            <a:off x="4667693" y="286412"/>
            <a:ext cx="6811587" cy="756737"/>
          </a:xfrm>
        </p:spPr>
        <p:txBody>
          <a:bodyPr>
            <a:normAutofit/>
          </a:bodyPr>
          <a:lstStyle/>
          <a:p>
            <a:pPr algn="r" rtl="1"/>
            <a:r>
              <a:rPr lang="he-IL" dirty="0">
                <a:latin typeface="Aharoni" panose="02010803020104030203" pitchFamily="2" charset="-79"/>
                <a:cs typeface="Aharoni" panose="02010803020104030203" pitchFamily="2" charset="-79"/>
              </a:rPr>
              <a:t>שתי גישות למדידה : גישה ב'  </a:t>
            </a:r>
            <a:endParaRPr lang="en-US" dirty="0">
              <a:latin typeface="Aharoni" panose="02010803020104030203" pitchFamily="2" charset="-79"/>
              <a:cs typeface="Aharoni" panose="02010803020104030203" pitchFamily="2" charset="-79"/>
            </a:endParaRPr>
          </a:p>
        </p:txBody>
      </p:sp>
      <p:sp>
        <p:nvSpPr>
          <p:cNvPr id="4" name="Slide Number Placeholder 3">
            <a:extLst>
              <a:ext uri="{FF2B5EF4-FFF2-40B4-BE49-F238E27FC236}">
                <a16:creationId xmlns:a16="http://schemas.microsoft.com/office/drawing/2014/main" id="{1211DFD2-A227-1F7B-C9C3-5C77B9343BCB}"/>
              </a:ext>
            </a:extLst>
          </p:cNvPr>
          <p:cNvSpPr>
            <a:spLocks noGrp="1"/>
          </p:cNvSpPr>
          <p:nvPr>
            <p:ph type="sldNum" sz="quarter" idx="12"/>
          </p:nvPr>
        </p:nvSpPr>
        <p:spPr/>
        <p:txBody>
          <a:bodyPr/>
          <a:lstStyle/>
          <a:p>
            <a:fld id="{3A98EE3D-8CD1-4C3F-BD1C-C98C9596463C}" type="slidenum">
              <a:rPr lang="en-US" smtClean="0"/>
              <a:t>9</a:t>
            </a:fld>
            <a:endParaRPr lang="en-US" dirty="0"/>
          </a:p>
        </p:txBody>
      </p:sp>
      <p:sp>
        <p:nvSpPr>
          <p:cNvPr id="11" name="TextBox 10">
            <a:extLst>
              <a:ext uri="{FF2B5EF4-FFF2-40B4-BE49-F238E27FC236}">
                <a16:creationId xmlns:a16="http://schemas.microsoft.com/office/drawing/2014/main" id="{F3653E43-7800-0B00-2739-CB6D48040FD2}"/>
              </a:ext>
            </a:extLst>
          </p:cNvPr>
          <p:cNvSpPr txBox="1"/>
          <p:nvPr/>
        </p:nvSpPr>
        <p:spPr>
          <a:xfrm>
            <a:off x="988828" y="5817520"/>
            <a:ext cx="9239692" cy="646331"/>
          </a:xfrm>
          <a:prstGeom prst="rect">
            <a:avLst/>
          </a:prstGeom>
          <a:noFill/>
        </p:spPr>
        <p:txBody>
          <a:bodyPr wrap="square">
            <a:spAutoFit/>
          </a:bodyPr>
          <a:lstStyle/>
          <a:p>
            <a:pPr algn="l"/>
            <a:r>
              <a:rPr lang="en-GB" sz="1800" b="0" i="0" u="none" strike="noStrike" baseline="0" dirty="0">
                <a:solidFill>
                  <a:srgbClr val="002060"/>
                </a:solidFill>
                <a:latin typeface="Arial" panose="020B0604020202020204" pitchFamily="34" charset="0"/>
              </a:rPr>
              <a:t>* </a:t>
            </a:r>
            <a:r>
              <a:rPr lang="en-GB" sz="1800" b="0" i="0" u="none" strike="noStrike" baseline="0" dirty="0" err="1">
                <a:solidFill>
                  <a:srgbClr val="002060"/>
                </a:solidFill>
                <a:latin typeface="Arial" panose="020B0604020202020204" pitchFamily="34" charset="0"/>
              </a:rPr>
              <a:t>Chassin</a:t>
            </a:r>
            <a:r>
              <a:rPr lang="en-GB" sz="1800" b="0" i="0" u="none" strike="noStrike" baseline="0" dirty="0">
                <a:solidFill>
                  <a:srgbClr val="002060"/>
                </a:solidFill>
                <a:latin typeface="Arial" panose="020B0604020202020204" pitchFamily="34" charset="0"/>
              </a:rPr>
              <a:t> MR, Galvin RW, and the National Roundtable on Health Care Quality.</a:t>
            </a:r>
          </a:p>
          <a:p>
            <a:pPr algn="l"/>
            <a:r>
              <a:rPr lang="en-GB" sz="1800" b="0" i="1" u="none" strike="noStrike" baseline="0" dirty="0">
                <a:solidFill>
                  <a:srgbClr val="002060"/>
                </a:solidFill>
                <a:latin typeface="Arial" panose="020B0604020202020204" pitchFamily="34" charset="0"/>
              </a:rPr>
              <a:t>The Urgent Need to Improve Health Care Quality</a:t>
            </a:r>
            <a:r>
              <a:rPr lang="en-GB" sz="1800" b="0" i="0" u="none" strike="noStrike" baseline="0" dirty="0">
                <a:solidFill>
                  <a:srgbClr val="002060"/>
                </a:solidFill>
                <a:latin typeface="Arial" panose="020B0604020202020204" pitchFamily="34" charset="0"/>
              </a:rPr>
              <a:t>. JAMA 280(11):1000-5, 1998</a:t>
            </a:r>
            <a:endParaRPr lang="en-US" dirty="0"/>
          </a:p>
        </p:txBody>
      </p:sp>
      <p:graphicFrame>
        <p:nvGraphicFramePr>
          <p:cNvPr id="12" name="Diagram 11">
            <a:extLst>
              <a:ext uri="{FF2B5EF4-FFF2-40B4-BE49-F238E27FC236}">
                <a16:creationId xmlns:a16="http://schemas.microsoft.com/office/drawing/2014/main" id="{AE8B6C95-7469-835E-78B9-930C2DBD092F}"/>
              </a:ext>
            </a:extLst>
          </p:cNvPr>
          <p:cNvGraphicFramePr/>
          <p:nvPr/>
        </p:nvGraphicFramePr>
        <p:xfrm>
          <a:off x="1073887" y="1871330"/>
          <a:ext cx="10951535" cy="37532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TextBox 12">
            <a:extLst>
              <a:ext uri="{FF2B5EF4-FFF2-40B4-BE49-F238E27FC236}">
                <a16:creationId xmlns:a16="http://schemas.microsoft.com/office/drawing/2014/main" id="{8D1837AA-50F5-348C-3E11-DD5966D3A265}"/>
              </a:ext>
            </a:extLst>
          </p:cNvPr>
          <p:cNvSpPr txBox="1"/>
          <p:nvPr/>
        </p:nvSpPr>
        <p:spPr>
          <a:xfrm>
            <a:off x="3668233" y="1220884"/>
            <a:ext cx="6182832" cy="523220"/>
          </a:xfrm>
          <a:prstGeom prst="rect">
            <a:avLst/>
          </a:prstGeom>
          <a:noFill/>
        </p:spPr>
        <p:txBody>
          <a:bodyPr wrap="square" rtlCol="0">
            <a:spAutoFit/>
          </a:bodyPr>
          <a:lstStyle/>
          <a:p>
            <a:pPr algn="r" rtl="1"/>
            <a:r>
              <a:rPr lang="he-IL" sz="2800" u="sng" dirty="0">
                <a:effectLst>
                  <a:outerShdw blurRad="38100" dist="38100" dir="2700000" algn="tl">
                    <a:srgbClr val="000000">
                      <a:alpha val="43137"/>
                    </a:srgbClr>
                  </a:outerShdw>
                </a:effectLst>
                <a:latin typeface="Aharoni" panose="02010803020104030203" pitchFamily="2" charset="-79"/>
                <a:cs typeface="Aharoni" panose="02010803020104030203" pitchFamily="2" charset="-79"/>
              </a:rPr>
              <a:t>מדידת איכות לפי קטגוריות פער האיכות- </a:t>
            </a:r>
            <a:endParaRPr lang="en-US" sz="2800" u="sng" dirty="0">
              <a:effectLst>
                <a:outerShdw blurRad="38100" dist="38100" dir="2700000" algn="tl">
                  <a:srgbClr val="000000">
                    <a:alpha val="43137"/>
                  </a:srgbClr>
                </a:outerShdw>
              </a:effectLst>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258540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B7ED8D6-9A54-47FC-88BD-4ED6C539D9BD}"/>
              </a:ext>
            </a:extLst>
          </p:cNvPr>
          <p:cNvSpPr>
            <a:spLocks noGrp="1"/>
          </p:cNvSpPr>
          <p:nvPr>
            <p:ph type="title"/>
          </p:nvPr>
        </p:nvSpPr>
        <p:spPr>
          <a:xfrm>
            <a:off x="1981201" y="103193"/>
            <a:ext cx="8229601" cy="715961"/>
          </a:xfrm>
        </p:spPr>
        <p:txBody>
          <a:bodyPr>
            <a:normAutofit fontScale="90000"/>
          </a:bodyPr>
          <a:lstStyle/>
          <a:p>
            <a:pPr algn="ctr" rtl="1"/>
            <a:br>
              <a:rPr lang="he-IL" sz="3600" b="1" dirty="0">
                <a:cs typeface="+mn-cs"/>
              </a:rPr>
            </a:br>
            <a:r>
              <a:rPr lang="he-IL" sz="4000" b="1" dirty="0">
                <a:latin typeface="Aharoni" panose="02010803020104030203" pitchFamily="2" charset="-79"/>
                <a:cs typeface="Aharoni" panose="02010803020104030203" pitchFamily="2" charset="-79"/>
              </a:rPr>
              <a:t>סוגי מדד</a:t>
            </a:r>
            <a:endParaRPr lang="en-US" sz="4000" b="1" dirty="0">
              <a:latin typeface="Aharoni" panose="02010803020104030203" pitchFamily="2" charset="-79"/>
              <a:cs typeface="Aharoni" panose="02010803020104030203" pitchFamily="2" charset="-79"/>
            </a:endParaRPr>
          </a:p>
        </p:txBody>
      </p:sp>
      <p:graphicFrame>
        <p:nvGraphicFramePr>
          <p:cNvPr id="5" name="דיאגרמה 4"/>
          <p:cNvGraphicFramePr/>
          <p:nvPr/>
        </p:nvGraphicFramePr>
        <p:xfrm>
          <a:off x="532661" y="934292"/>
          <a:ext cx="10733102" cy="54487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31078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08BA9-BA21-F7B1-A04D-631503ED84A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1093023-5D7A-B607-7AF4-2BC319348278}"/>
              </a:ext>
            </a:extLst>
          </p:cNvPr>
          <p:cNvSpPr>
            <a:spLocks noGrp="1"/>
          </p:cNvSpPr>
          <p:nvPr>
            <p:ph type="title"/>
          </p:nvPr>
        </p:nvSpPr>
        <p:spPr>
          <a:xfrm>
            <a:off x="3978876" y="156519"/>
            <a:ext cx="5469923" cy="1318054"/>
          </a:xfrm>
        </p:spPr>
        <p:txBody>
          <a:bodyPr/>
          <a:lstStyle/>
          <a:p>
            <a:r>
              <a:rPr lang="he-IL" dirty="0"/>
              <a:t>מדדים ותוכנית עבודה </a:t>
            </a:r>
          </a:p>
        </p:txBody>
      </p:sp>
      <p:sp>
        <p:nvSpPr>
          <p:cNvPr id="4" name="מציין מיקום של מספר שקופית 3">
            <a:extLst>
              <a:ext uri="{FF2B5EF4-FFF2-40B4-BE49-F238E27FC236}">
                <a16:creationId xmlns:a16="http://schemas.microsoft.com/office/drawing/2014/main" id="{C0870E8B-318E-5FFA-DB7F-F86289D18B72}"/>
              </a:ext>
            </a:extLst>
          </p:cNvPr>
          <p:cNvSpPr>
            <a:spLocks noGrp="1"/>
          </p:cNvSpPr>
          <p:nvPr>
            <p:ph type="sldNum" sz="quarter" idx="12"/>
          </p:nvPr>
        </p:nvSpPr>
        <p:spPr/>
        <p:txBody>
          <a:bodyPr/>
          <a:lstStyle/>
          <a:p>
            <a:fld id="{6D22F896-40B5-4ADD-8801-0D06FADFA095}" type="slidenum">
              <a:rPr lang="en-US" smtClean="0"/>
              <a:t>11</a:t>
            </a:fld>
            <a:endParaRPr lang="en-US" dirty="0"/>
          </a:p>
        </p:txBody>
      </p:sp>
      <p:sp>
        <p:nvSpPr>
          <p:cNvPr id="6" name="תיבת טקסט 5">
            <a:extLst>
              <a:ext uri="{FF2B5EF4-FFF2-40B4-BE49-F238E27FC236}">
                <a16:creationId xmlns:a16="http://schemas.microsoft.com/office/drawing/2014/main" id="{6659F283-331F-81BD-7C60-80F3C8DDF801}"/>
              </a:ext>
            </a:extLst>
          </p:cNvPr>
          <p:cNvSpPr txBox="1"/>
          <p:nvPr/>
        </p:nvSpPr>
        <p:spPr>
          <a:xfrm>
            <a:off x="6478954" y="1367564"/>
            <a:ext cx="6096000" cy="4345613"/>
          </a:xfrm>
          <a:prstGeom prst="rect">
            <a:avLst/>
          </a:prstGeom>
          <a:noFill/>
        </p:spPr>
        <p:txBody>
          <a:bodyPr wrap="square">
            <a:spAutoFit/>
          </a:bodyPr>
          <a:lstStyle/>
          <a:p>
            <a:pPr marL="1828800" indent="457200" algn="r" rtl="1">
              <a:lnSpc>
                <a:spcPct val="115000"/>
              </a:lnSpc>
              <a:spcAft>
                <a:spcPts val="1000"/>
              </a:spcAft>
              <a:buNone/>
            </a:pPr>
            <a:r>
              <a:rPr lang="he-IL" sz="1800" b="1" u="sng" dirty="0">
                <a:effectLst/>
                <a:latin typeface="Calibri" panose="020F0502020204030204" pitchFamily="34" charset="0"/>
                <a:ea typeface="Calibri" panose="020F0502020204030204" pitchFamily="34" charset="0"/>
                <a:cs typeface="Times New Roman" panose="02020603050405020304" pitchFamily="18" charset="0"/>
              </a:rPr>
              <a:t>לסיכום: שנת 2023</a:t>
            </a:r>
            <a:endParaRPr lang="en-US" sz="1000" u="sng" dirty="0">
              <a:effectLst/>
              <a:latin typeface="Calibri" panose="020F0502020204030204" pitchFamily="34" charset="0"/>
              <a:ea typeface="Calibri" panose="020F0502020204030204" pitchFamily="34" charset="0"/>
              <a:cs typeface="Arial" panose="020B0604020202020204" pitchFamily="34" charset="0"/>
            </a:endParaRPr>
          </a:p>
          <a:p>
            <a:pPr marL="1828800" indent="457200" algn="r" rtl="1">
              <a:lnSpc>
                <a:spcPct val="115000"/>
              </a:lnSpc>
              <a:spcAft>
                <a:spcPts val="1000"/>
              </a:spcAft>
              <a:buNone/>
            </a:pPr>
            <a:r>
              <a:rPr lang="he-IL" sz="1800" b="1" dirty="0">
                <a:effectLst/>
                <a:latin typeface="Calibri" panose="020F0502020204030204" pitchFamily="34" charset="0"/>
                <a:ea typeface="Calibri" panose="020F0502020204030204" pitchFamily="34" charset="0"/>
                <a:cs typeface="Times New Roman" panose="02020603050405020304" pitchFamily="18" charset="0"/>
              </a:rPr>
              <a:t>26 - יועצים </a:t>
            </a:r>
            <a:r>
              <a:rPr lang="he-IL" sz="1800" b="1" dirty="0" err="1">
                <a:effectLst/>
                <a:latin typeface="Calibri" panose="020F0502020204030204" pitchFamily="34" charset="0"/>
                <a:ea typeface="Calibri" panose="020F0502020204030204" pitchFamily="34" charset="0"/>
                <a:cs typeface="Times New Roman" panose="02020603050405020304" pitchFamily="18" charset="0"/>
              </a:rPr>
              <a:t>פליאטיבים</a:t>
            </a:r>
            <a:r>
              <a:rPr lang="he-IL" sz="18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000" dirty="0">
              <a:effectLst/>
              <a:latin typeface="Calibri" panose="020F0502020204030204" pitchFamily="34" charset="0"/>
              <a:ea typeface="Calibri" panose="020F0502020204030204" pitchFamily="34" charset="0"/>
              <a:cs typeface="Arial" panose="020B0604020202020204" pitchFamily="34" charset="0"/>
            </a:endParaRPr>
          </a:p>
          <a:p>
            <a:pPr marL="1828800" indent="457200" algn="r" rtl="1">
              <a:lnSpc>
                <a:spcPct val="115000"/>
              </a:lnSpc>
              <a:spcAft>
                <a:spcPts val="1000"/>
              </a:spcAft>
              <a:buNone/>
            </a:pPr>
            <a:r>
              <a:rPr lang="he-IL" sz="1800" b="1" dirty="0">
                <a:effectLst/>
                <a:latin typeface="Calibri" panose="020F0502020204030204" pitchFamily="34" charset="0"/>
                <a:ea typeface="Calibri" panose="020F0502020204030204" pitchFamily="34" charset="0"/>
                <a:cs typeface="Times New Roman" panose="02020603050405020304" pitchFamily="18" charset="0"/>
              </a:rPr>
              <a:t>מפגש  1 ועדה </a:t>
            </a:r>
            <a:r>
              <a:rPr lang="he-IL" sz="1800" b="1" dirty="0" err="1">
                <a:effectLst/>
                <a:latin typeface="Calibri" panose="020F0502020204030204" pitchFamily="34" charset="0"/>
                <a:ea typeface="Calibri" panose="020F0502020204030204" pitchFamily="34" charset="0"/>
                <a:cs typeface="Times New Roman" panose="02020603050405020304" pitchFamily="18" charset="0"/>
              </a:rPr>
              <a:t>פליאטיבית</a:t>
            </a:r>
            <a:r>
              <a:rPr lang="he-IL" sz="18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000" dirty="0">
              <a:effectLst/>
              <a:latin typeface="Calibri" panose="020F0502020204030204" pitchFamily="34" charset="0"/>
              <a:ea typeface="Calibri" panose="020F0502020204030204" pitchFamily="34" charset="0"/>
              <a:cs typeface="Arial" panose="020B0604020202020204" pitchFamily="34" charset="0"/>
            </a:endParaRPr>
          </a:p>
          <a:p>
            <a:pPr marL="1828800" indent="457200" algn="r" rtl="1">
              <a:lnSpc>
                <a:spcPct val="115000"/>
              </a:lnSpc>
              <a:spcAft>
                <a:spcPts val="1000"/>
              </a:spcAft>
              <a:buNone/>
            </a:pPr>
            <a:r>
              <a:rPr lang="he-IL" sz="1800" b="1" dirty="0">
                <a:effectLst/>
                <a:latin typeface="Calibri" panose="020F0502020204030204" pitchFamily="34" charset="0"/>
                <a:ea typeface="Calibri" panose="020F0502020204030204" pitchFamily="34" charset="0"/>
                <a:cs typeface="Times New Roman" panose="02020603050405020304" pitchFamily="18" charset="0"/>
              </a:rPr>
              <a:t>5 פגישות עבודה בנושאים : ישיבות רב מקצועיות  </a:t>
            </a:r>
            <a:endParaRPr lang="en-US" sz="1000" dirty="0">
              <a:effectLst/>
              <a:latin typeface="Calibri" panose="020F0502020204030204" pitchFamily="34" charset="0"/>
              <a:ea typeface="Calibri" panose="020F0502020204030204" pitchFamily="34" charset="0"/>
              <a:cs typeface="Arial" panose="020B0604020202020204" pitchFamily="34" charset="0"/>
            </a:endParaRPr>
          </a:p>
          <a:p>
            <a:pPr marL="1828800" indent="457200" algn="r" rtl="1">
              <a:lnSpc>
                <a:spcPct val="115000"/>
              </a:lnSpc>
              <a:spcAft>
                <a:spcPts val="1000"/>
              </a:spcAft>
              <a:buNone/>
            </a:pPr>
            <a:r>
              <a:rPr lang="he-IL" sz="1800" b="1" dirty="0">
                <a:effectLst/>
                <a:latin typeface="Calibri" panose="020F0502020204030204" pitchFamily="34" charset="0"/>
                <a:ea typeface="Calibri" panose="020F0502020204030204" pitchFamily="34" charset="0"/>
                <a:cs typeface="Times New Roman" panose="02020603050405020304" pitchFamily="18" charset="0"/>
              </a:rPr>
              <a:t>10 בקרות על מילוי טופס תיאום טיפול ( כולל פגישות עם רופאים )</a:t>
            </a:r>
            <a:endParaRPr lang="en-US" sz="1000" dirty="0">
              <a:effectLst/>
              <a:latin typeface="Calibri" panose="020F0502020204030204" pitchFamily="34" charset="0"/>
              <a:ea typeface="Calibri" panose="020F0502020204030204" pitchFamily="34" charset="0"/>
              <a:cs typeface="Arial" panose="020B0604020202020204" pitchFamily="34" charset="0"/>
            </a:endParaRPr>
          </a:p>
          <a:p>
            <a:pPr marL="1828800" indent="457200" algn="r" rtl="1">
              <a:lnSpc>
                <a:spcPct val="115000"/>
              </a:lnSpc>
              <a:spcAft>
                <a:spcPts val="1000"/>
              </a:spcAft>
              <a:buNone/>
            </a:pPr>
            <a:r>
              <a:rPr lang="he-IL" sz="1800" b="1" dirty="0">
                <a:effectLst/>
                <a:latin typeface="Calibri" panose="020F0502020204030204" pitchFamily="34" charset="0"/>
                <a:ea typeface="Calibri" panose="020F0502020204030204" pitchFamily="34" charset="0"/>
                <a:cs typeface="Times New Roman" panose="02020603050405020304" pitchFamily="18" charset="0"/>
              </a:rPr>
              <a:t>8.23 עודכן נהל 1.2.7. הנחיות למתן נוזלים ותרופות בעירוי תת עורי</a:t>
            </a:r>
            <a:endParaRPr lang="en-US" sz="1000" dirty="0">
              <a:effectLst/>
              <a:latin typeface="Calibri" panose="020F0502020204030204" pitchFamily="34" charset="0"/>
              <a:ea typeface="Calibri" panose="020F0502020204030204" pitchFamily="34" charset="0"/>
              <a:cs typeface="Arial" panose="020B0604020202020204" pitchFamily="34" charset="0"/>
            </a:endParaRPr>
          </a:p>
          <a:p>
            <a:pPr marL="1828800" indent="457200" algn="r" rtl="1">
              <a:lnSpc>
                <a:spcPct val="115000"/>
              </a:lnSpc>
              <a:spcAft>
                <a:spcPts val="1000"/>
              </a:spcAft>
            </a:pPr>
            <a:r>
              <a:rPr lang="he-IL" sz="1800" b="1" dirty="0">
                <a:effectLst/>
                <a:latin typeface="Calibri" panose="020F0502020204030204" pitchFamily="34" charset="0"/>
                <a:ea typeface="Calibri" panose="020F0502020204030204" pitchFamily="34" charset="0"/>
                <a:cs typeface="Times New Roman" panose="02020603050405020304" pitchFamily="18" charset="0"/>
              </a:rPr>
              <a:t>5 הדרכות במחלקות לצוות בנושא טיפול תומך</a:t>
            </a:r>
            <a:endParaRPr lang="en-US" sz="1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תיבת טקסט 8">
            <a:extLst>
              <a:ext uri="{FF2B5EF4-FFF2-40B4-BE49-F238E27FC236}">
                <a16:creationId xmlns:a16="http://schemas.microsoft.com/office/drawing/2014/main" id="{A35BEC39-6559-3EDD-030E-F8D38371CC6E}"/>
              </a:ext>
            </a:extLst>
          </p:cNvPr>
          <p:cNvSpPr txBox="1"/>
          <p:nvPr/>
        </p:nvSpPr>
        <p:spPr>
          <a:xfrm>
            <a:off x="852721" y="1401675"/>
            <a:ext cx="5469923" cy="4664162"/>
          </a:xfrm>
          <a:prstGeom prst="rect">
            <a:avLst/>
          </a:prstGeom>
          <a:noFill/>
        </p:spPr>
        <p:txBody>
          <a:bodyPr wrap="square">
            <a:spAutoFit/>
          </a:bodyPr>
          <a:lstStyle/>
          <a:p>
            <a:pPr marL="1828800" indent="457200" algn="r" rtl="1">
              <a:lnSpc>
                <a:spcPct val="115000"/>
              </a:lnSpc>
              <a:spcAft>
                <a:spcPts val="1000"/>
              </a:spcAft>
              <a:buNone/>
            </a:pPr>
            <a:r>
              <a:rPr lang="he-IL" sz="1800" b="1" u="sng" dirty="0">
                <a:effectLst/>
                <a:latin typeface="Calibri" panose="020F0502020204030204" pitchFamily="34" charset="0"/>
                <a:ea typeface="Calibri" panose="020F0502020204030204" pitchFamily="34" charset="0"/>
                <a:cs typeface="Times New Roman" panose="02020603050405020304" pitchFamily="18" charset="0"/>
              </a:rPr>
              <a:t>לסיכום: שנת 2024</a:t>
            </a:r>
            <a:endParaRPr lang="en-US" sz="1000" u="sng" dirty="0">
              <a:effectLst/>
              <a:latin typeface="Calibri" panose="020F0502020204030204" pitchFamily="34" charset="0"/>
              <a:ea typeface="Calibri" panose="020F0502020204030204" pitchFamily="34" charset="0"/>
              <a:cs typeface="Arial" panose="020B0604020202020204" pitchFamily="34" charset="0"/>
            </a:endParaRPr>
          </a:p>
          <a:p>
            <a:pPr marL="1828800" indent="457200" algn="r" rtl="1">
              <a:lnSpc>
                <a:spcPct val="115000"/>
              </a:lnSpc>
              <a:spcAft>
                <a:spcPts val="1000"/>
              </a:spcAft>
              <a:buNone/>
            </a:pPr>
            <a:r>
              <a:rPr lang="he-IL" sz="1800" dirty="0">
                <a:effectLst/>
                <a:latin typeface="Calibri" panose="020F0502020204030204" pitchFamily="34" charset="0"/>
                <a:ea typeface="Calibri" panose="020F0502020204030204" pitchFamily="34" charset="0"/>
                <a:cs typeface="Times New Roman" panose="02020603050405020304" pitchFamily="18" charset="0"/>
              </a:rPr>
              <a:t>42 - יועצים </a:t>
            </a:r>
            <a:r>
              <a:rPr lang="he-IL" sz="1800" dirty="0" err="1">
                <a:effectLst/>
                <a:latin typeface="Calibri" panose="020F0502020204030204" pitchFamily="34" charset="0"/>
                <a:ea typeface="Calibri" panose="020F0502020204030204" pitchFamily="34" charset="0"/>
                <a:cs typeface="Times New Roman" panose="02020603050405020304" pitchFamily="18" charset="0"/>
              </a:rPr>
              <a:t>פליאטיבים</a:t>
            </a:r>
            <a:r>
              <a:rPr lang="he-IL"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000" dirty="0">
              <a:effectLst/>
              <a:latin typeface="Calibri" panose="020F0502020204030204" pitchFamily="34" charset="0"/>
              <a:ea typeface="Calibri" panose="020F0502020204030204" pitchFamily="34" charset="0"/>
              <a:cs typeface="Arial" panose="020B0604020202020204" pitchFamily="34" charset="0"/>
            </a:endParaRPr>
          </a:p>
          <a:p>
            <a:pPr marL="1828800" indent="457200" algn="r" rtl="1">
              <a:lnSpc>
                <a:spcPct val="115000"/>
              </a:lnSpc>
              <a:spcAft>
                <a:spcPts val="1000"/>
              </a:spcAft>
              <a:buNone/>
            </a:pPr>
            <a:r>
              <a:rPr lang="he-IL" sz="1800" dirty="0">
                <a:effectLst/>
                <a:latin typeface="Calibri" panose="020F0502020204030204" pitchFamily="34" charset="0"/>
                <a:ea typeface="Calibri" panose="020F0502020204030204" pitchFamily="34" charset="0"/>
                <a:cs typeface="Times New Roman" panose="02020603050405020304" pitchFamily="18" charset="0"/>
              </a:rPr>
              <a:t>מפגש  1 ועדה </a:t>
            </a:r>
            <a:r>
              <a:rPr lang="he-IL" sz="1800" dirty="0" err="1">
                <a:effectLst/>
                <a:latin typeface="Calibri" panose="020F0502020204030204" pitchFamily="34" charset="0"/>
                <a:ea typeface="Calibri" panose="020F0502020204030204" pitchFamily="34" charset="0"/>
                <a:cs typeface="Times New Roman" panose="02020603050405020304" pitchFamily="18" charset="0"/>
              </a:rPr>
              <a:t>פליאטיבית</a:t>
            </a:r>
            <a:r>
              <a:rPr lang="he-IL"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000" dirty="0">
              <a:effectLst/>
              <a:latin typeface="Calibri" panose="020F0502020204030204" pitchFamily="34" charset="0"/>
              <a:ea typeface="Calibri" panose="020F0502020204030204" pitchFamily="34" charset="0"/>
              <a:cs typeface="Arial" panose="020B0604020202020204" pitchFamily="34" charset="0"/>
            </a:endParaRPr>
          </a:p>
          <a:p>
            <a:pPr marL="1828800" indent="457200" algn="r" rtl="1">
              <a:lnSpc>
                <a:spcPct val="115000"/>
              </a:lnSpc>
              <a:spcAft>
                <a:spcPts val="1000"/>
              </a:spcAft>
              <a:buNone/>
            </a:pPr>
            <a:r>
              <a:rPr lang="he-IL" sz="1800" dirty="0">
                <a:effectLst/>
                <a:latin typeface="Calibri" panose="020F0502020204030204" pitchFamily="34" charset="0"/>
                <a:ea typeface="Calibri" panose="020F0502020204030204" pitchFamily="34" charset="0"/>
                <a:cs typeface="Times New Roman" panose="02020603050405020304" pitchFamily="18" charset="0"/>
              </a:rPr>
              <a:t>5 פגישות עבודה בנושאים : ישיבות רב מקצועיות  </a:t>
            </a:r>
            <a:endParaRPr lang="en-US" sz="1000" dirty="0">
              <a:effectLst/>
              <a:latin typeface="Calibri" panose="020F0502020204030204" pitchFamily="34" charset="0"/>
              <a:ea typeface="Calibri" panose="020F0502020204030204" pitchFamily="34" charset="0"/>
              <a:cs typeface="Arial" panose="020B0604020202020204" pitchFamily="34" charset="0"/>
            </a:endParaRPr>
          </a:p>
          <a:p>
            <a:pPr marL="1828800" indent="457200" algn="r" rtl="1">
              <a:lnSpc>
                <a:spcPct val="115000"/>
              </a:lnSpc>
              <a:spcAft>
                <a:spcPts val="1000"/>
              </a:spcAft>
              <a:buNone/>
            </a:pPr>
            <a:r>
              <a:rPr lang="he-IL" sz="1800" dirty="0">
                <a:effectLst/>
                <a:latin typeface="Calibri" panose="020F0502020204030204" pitchFamily="34" charset="0"/>
                <a:ea typeface="Calibri" panose="020F0502020204030204" pitchFamily="34" charset="0"/>
                <a:cs typeface="Times New Roman" panose="02020603050405020304" pitchFamily="18" charset="0"/>
              </a:rPr>
              <a:t>10 בקרות על מילוי טופס תיאום טיפול ( כולל פגישות עם רופאים )</a:t>
            </a:r>
            <a:endParaRPr lang="en-US" sz="1000" dirty="0">
              <a:effectLst/>
              <a:latin typeface="Calibri" panose="020F0502020204030204" pitchFamily="34" charset="0"/>
              <a:ea typeface="Calibri" panose="020F0502020204030204" pitchFamily="34" charset="0"/>
              <a:cs typeface="Arial" panose="020B0604020202020204" pitchFamily="34" charset="0"/>
            </a:endParaRPr>
          </a:p>
          <a:p>
            <a:pPr marL="1828800" indent="457200" algn="r" rtl="1">
              <a:lnSpc>
                <a:spcPct val="115000"/>
              </a:lnSpc>
              <a:spcAft>
                <a:spcPts val="1000"/>
              </a:spcAft>
              <a:buNone/>
            </a:pPr>
            <a:r>
              <a:rPr lang="he-IL" sz="1800" dirty="0">
                <a:effectLst/>
                <a:latin typeface="Calibri" panose="020F0502020204030204" pitchFamily="34" charset="0"/>
                <a:ea typeface="Calibri" panose="020F0502020204030204" pitchFamily="34" charset="0"/>
                <a:cs typeface="Times New Roman" panose="02020603050405020304" pitchFamily="18" charset="0"/>
              </a:rPr>
              <a:t>עודכן נהל הפעלת שירות טיפול תומך/</a:t>
            </a:r>
            <a:r>
              <a:rPr lang="he-IL" sz="1800" dirty="0" err="1">
                <a:effectLst/>
                <a:latin typeface="Calibri" panose="020F0502020204030204" pitchFamily="34" charset="0"/>
                <a:ea typeface="Calibri" panose="020F0502020204030204" pitchFamily="34" charset="0"/>
                <a:cs typeface="Times New Roman" panose="02020603050405020304" pitchFamily="18" charset="0"/>
              </a:rPr>
              <a:t>פליאטיבי</a:t>
            </a:r>
            <a:r>
              <a:rPr lang="he-IL" sz="1800" dirty="0">
                <a:effectLst/>
                <a:latin typeface="Calibri" panose="020F0502020204030204" pitchFamily="34" charset="0"/>
                <a:ea typeface="Calibri" panose="020F0502020204030204" pitchFamily="34" charset="0"/>
                <a:cs typeface="Times New Roman" panose="02020603050405020304" pitchFamily="18" charset="0"/>
              </a:rPr>
              <a:t> בבית הדר</a:t>
            </a:r>
            <a:r>
              <a:rPr lang="he-IL" sz="1000" dirty="0">
                <a:effectLst/>
                <a:latin typeface="Calibri" panose="020F0502020204030204" pitchFamily="34" charset="0"/>
                <a:ea typeface="Calibri" panose="020F0502020204030204" pitchFamily="34" charset="0"/>
                <a:cs typeface="Arial" panose="020B0604020202020204" pitchFamily="34" charset="0"/>
              </a:rPr>
              <a:t>    </a:t>
            </a:r>
            <a:r>
              <a:rPr lang="he-IL" sz="1800" dirty="0">
                <a:effectLst/>
                <a:latin typeface="Calibri" panose="020F0502020204030204" pitchFamily="34" charset="0"/>
                <a:ea typeface="Calibri" panose="020F0502020204030204" pitchFamily="34" charset="0"/>
                <a:cs typeface="Times New Roman" panose="02020603050405020304" pitchFamily="18" charset="0"/>
              </a:rPr>
              <a:t>1.11.1 12/24 עם עדכונים שותפים במהלך 3 חודשים בתחילת השנה</a:t>
            </a:r>
            <a:endParaRPr lang="en-US" sz="1000" dirty="0">
              <a:effectLst/>
              <a:latin typeface="Calibri" panose="020F0502020204030204" pitchFamily="34" charset="0"/>
              <a:ea typeface="Calibri" panose="020F0502020204030204" pitchFamily="34" charset="0"/>
              <a:cs typeface="Arial" panose="020B0604020202020204" pitchFamily="34" charset="0"/>
            </a:endParaRPr>
          </a:p>
          <a:p>
            <a:pPr marL="1828800" indent="457200" algn="r" rtl="1">
              <a:lnSpc>
                <a:spcPct val="115000"/>
              </a:lnSpc>
              <a:spcAft>
                <a:spcPts val="1000"/>
              </a:spcAft>
            </a:pPr>
            <a:r>
              <a:rPr lang="he-IL" sz="18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906473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745</Words>
  <Application>Microsoft Office PowerPoint</Application>
  <PresentationFormat>Widescreen</PresentationFormat>
  <Paragraphs>124</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Aharoni</vt:lpstr>
      <vt:lpstr>Arial</vt:lpstr>
      <vt:lpstr>Calibri</vt:lpstr>
      <vt:lpstr>Calibri Light</vt:lpstr>
      <vt:lpstr>David</vt:lpstr>
      <vt:lpstr>Times New Roman</vt:lpstr>
      <vt:lpstr>Office Theme</vt:lpstr>
      <vt:lpstr>PowerPoint Presentation</vt:lpstr>
      <vt:lpstr>PowerPoint Presentation</vt:lpstr>
      <vt:lpstr>PowerPoint Presentation</vt:lpstr>
      <vt:lpstr>PowerPoint Presentation</vt:lpstr>
      <vt:lpstr>להלן שתי שיטות/פורמט לבחירתכם ולשימושכם בכתיבת העבודה:  1. תוכנית עבודה לפי לימור עמירם (פורמט לדוגמה)  </vt:lpstr>
      <vt:lpstr>PowerPoint Presentation</vt:lpstr>
      <vt:lpstr>PowerPoint Presentation</vt:lpstr>
      <vt:lpstr>שתי גישות למדידה : גישה א' </vt:lpstr>
      <vt:lpstr>שתי גישות למדידה : גישה ב'  </vt:lpstr>
      <vt:lpstr> סוגי מדד</vt:lpstr>
      <vt:lpstr>מדדים ותוכנית עבודה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Gazit Gil</dc:creator>
  <cp:lastModifiedBy>Gazit Gil</cp:lastModifiedBy>
  <cp:revision>2</cp:revision>
  <dcterms:created xsi:type="dcterms:W3CDTF">2026-06-16T15:21:29Z</dcterms:created>
  <dcterms:modified xsi:type="dcterms:W3CDTF">2026-06-16T22:27:17Z</dcterms:modified>
</cp:coreProperties>
</file>